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256" r:id="rId5"/>
    <p:sldId id="257" r:id="rId6"/>
    <p:sldId id="269" r:id="rId7"/>
    <p:sldId id="259" r:id="rId8"/>
    <p:sldId id="270" r:id="rId9"/>
    <p:sldId id="260" r:id="rId10"/>
    <p:sldId id="277" r:id="rId11"/>
    <p:sldId id="278" r:id="rId12"/>
    <p:sldId id="279" r:id="rId13"/>
    <p:sldId id="261" r:id="rId14"/>
    <p:sldId id="262" r:id="rId15"/>
    <p:sldId id="275" r:id="rId16"/>
    <p:sldId id="276" r:id="rId17"/>
    <p:sldId id="263" r:id="rId18"/>
    <p:sldId id="264" r:id="rId19"/>
    <p:sldId id="265" r:id="rId20"/>
    <p:sldId id="271" r:id="rId21"/>
    <p:sldId id="266" r:id="rId22"/>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62E"/>
    <a:srgbClr val="0F21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0" autoAdjust="0"/>
    <p:restoredTop sz="94660"/>
  </p:normalViewPr>
  <p:slideViewPr>
    <p:cSldViewPr snapToGrid="0">
      <p:cViewPr varScale="1">
        <p:scale>
          <a:sx n="59" d="100"/>
          <a:sy n="59" d="100"/>
        </p:scale>
        <p:origin x="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C4852B99-28C1-185A-F7AA-BB54B01CD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ES"/>
              <a:t>HIPOTESIS Y DISEÑO DE INVESTIGACION</a:t>
            </a:r>
            <a:endParaRPr lang="es-AR"/>
          </a:p>
        </p:txBody>
      </p:sp>
      <p:sp>
        <p:nvSpPr>
          <p:cNvPr id="3" name="Marcador de fecha 2">
            <a:extLst>
              <a:ext uri="{FF2B5EF4-FFF2-40B4-BE49-F238E27FC236}">
                <a16:creationId xmlns:a16="http://schemas.microsoft.com/office/drawing/2014/main" id="{494203E4-CBDB-2A0A-2E0A-F6109FAFC6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55DBAD-254C-424B-9CB7-4EA3AD8302F7}" type="datetimeFigureOut">
              <a:rPr lang="es-AR" smtClean="0"/>
              <a:t>5/12/2025</a:t>
            </a:fld>
            <a:endParaRPr lang="es-AR"/>
          </a:p>
        </p:txBody>
      </p:sp>
      <p:sp>
        <p:nvSpPr>
          <p:cNvPr id="4" name="Marcador de pie de página 3">
            <a:extLst>
              <a:ext uri="{FF2B5EF4-FFF2-40B4-BE49-F238E27FC236}">
                <a16:creationId xmlns:a16="http://schemas.microsoft.com/office/drawing/2014/main" id="{F8634071-FC50-572E-C80A-248B7B4D95C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5" name="Marcador de número de diapositiva 4">
            <a:extLst>
              <a:ext uri="{FF2B5EF4-FFF2-40B4-BE49-F238E27FC236}">
                <a16:creationId xmlns:a16="http://schemas.microsoft.com/office/drawing/2014/main" id="{43C485D0-7749-C307-146B-4BB11D56B8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3042B0-6C10-41FF-849C-FD7E89869C95}" type="slidenum">
              <a:rPr lang="es-AR" smtClean="0"/>
              <a:t>‹#›</a:t>
            </a:fld>
            <a:endParaRPr lang="es-AR"/>
          </a:p>
        </p:txBody>
      </p:sp>
    </p:spTree>
    <p:extLst>
      <p:ext uri="{BB962C8B-B14F-4D97-AF65-F5344CB8AC3E}">
        <p14:creationId xmlns:p14="http://schemas.microsoft.com/office/powerpoint/2010/main" val="182864426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ES"/>
              <a:t>HIPOTESIS Y DISEÑO DE INVESTIGACION</a:t>
            </a:r>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C35691-3212-41F3-A0D6-4E26529CB194}" type="datetimeFigureOut">
              <a:rPr lang="es-AR" smtClean="0"/>
              <a:t>5/12/2025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31B363-F774-4046-9199-02AA5F1AA86E}" type="slidenum">
              <a:rPr lang="es-AR" smtClean="0"/>
              <a:t>‹#›</a:t>
            </a:fld>
            <a:endParaRPr lang="es-AR"/>
          </a:p>
        </p:txBody>
      </p:sp>
    </p:spTree>
    <p:extLst>
      <p:ext uri="{BB962C8B-B14F-4D97-AF65-F5344CB8AC3E}">
        <p14:creationId xmlns:p14="http://schemas.microsoft.com/office/powerpoint/2010/main" val="111572172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3075637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4152613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BA1D18-0070-6B3C-A7CE-1055CE25938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78FA7D03-7263-0A79-7A9B-9542299499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10E46531-E06A-AA06-1C63-FA1F7F092A49}"/>
              </a:ext>
            </a:extLst>
          </p:cNvPr>
          <p:cNvSpPr>
            <a:spLocks noGrp="1"/>
          </p:cNvSpPr>
          <p:nvPr>
            <p:ph type="dt" sz="half" idx="10"/>
          </p:nvPr>
        </p:nvSpPr>
        <p:spPr/>
        <p:txBody>
          <a:bodyPr/>
          <a:lstStyle/>
          <a:p>
            <a:fld id="{C7AF8DDE-ADF8-40B8-8D82-88BF9BF80BB6}" type="datetime1">
              <a:rPr lang="es-AR" smtClean="0"/>
              <a:t>5/12/2025</a:t>
            </a:fld>
            <a:endParaRPr lang="es-AR"/>
          </a:p>
        </p:txBody>
      </p:sp>
      <p:sp>
        <p:nvSpPr>
          <p:cNvPr id="5" name="Marcador de pie de página 4">
            <a:extLst>
              <a:ext uri="{FF2B5EF4-FFF2-40B4-BE49-F238E27FC236}">
                <a16:creationId xmlns:a16="http://schemas.microsoft.com/office/drawing/2014/main" id="{E4D2A83E-40E2-678E-04A6-10365CF7479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1A9472C4-2439-5144-744E-EA342F231B88}"/>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3325784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05074A-F7F1-3C4A-D8F2-2A8C49E07BA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CBED6528-9AE9-F678-84BA-AD015F8E166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C1F785F7-C9EE-3312-6DAF-6343CCED903A}"/>
              </a:ext>
            </a:extLst>
          </p:cNvPr>
          <p:cNvSpPr>
            <a:spLocks noGrp="1"/>
          </p:cNvSpPr>
          <p:nvPr>
            <p:ph type="dt" sz="half" idx="10"/>
          </p:nvPr>
        </p:nvSpPr>
        <p:spPr/>
        <p:txBody>
          <a:bodyPr/>
          <a:lstStyle/>
          <a:p>
            <a:fld id="{8CF8511E-49FF-433B-AE21-A9ED0A866063}" type="datetime1">
              <a:rPr lang="es-AR" smtClean="0"/>
              <a:t>5/12/2025</a:t>
            </a:fld>
            <a:endParaRPr lang="es-AR"/>
          </a:p>
        </p:txBody>
      </p:sp>
      <p:sp>
        <p:nvSpPr>
          <p:cNvPr id="5" name="Marcador de pie de página 4">
            <a:extLst>
              <a:ext uri="{FF2B5EF4-FFF2-40B4-BE49-F238E27FC236}">
                <a16:creationId xmlns:a16="http://schemas.microsoft.com/office/drawing/2014/main" id="{4B33759B-ADEC-7EFE-7D94-F89E11438D29}"/>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58554A98-F8ED-0928-D0C4-AB4564D57F1F}"/>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2110029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1F5694-7CE2-FB80-4693-19EA716AA55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F0DAE256-D907-C081-2B90-DBBC802DD3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86DE7D7-3F93-2976-4EDB-15B26DEC40FB}"/>
              </a:ext>
            </a:extLst>
          </p:cNvPr>
          <p:cNvSpPr>
            <a:spLocks noGrp="1"/>
          </p:cNvSpPr>
          <p:nvPr>
            <p:ph type="dt" sz="half" idx="10"/>
          </p:nvPr>
        </p:nvSpPr>
        <p:spPr/>
        <p:txBody>
          <a:bodyPr/>
          <a:lstStyle/>
          <a:p>
            <a:fld id="{B698A322-5158-40A8-857A-1AFF344377B2}" type="datetime1">
              <a:rPr lang="es-AR" smtClean="0"/>
              <a:t>5/12/2025</a:t>
            </a:fld>
            <a:endParaRPr lang="es-AR"/>
          </a:p>
        </p:txBody>
      </p:sp>
      <p:sp>
        <p:nvSpPr>
          <p:cNvPr id="5" name="Marcador de pie de página 4">
            <a:extLst>
              <a:ext uri="{FF2B5EF4-FFF2-40B4-BE49-F238E27FC236}">
                <a16:creationId xmlns:a16="http://schemas.microsoft.com/office/drawing/2014/main" id="{F524E7F9-B6ED-C731-6668-A56304E7CE28}"/>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85A3484-97F6-D3A3-7AA6-100AFF8C2CAC}"/>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2534357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D9AFD3-6EDD-E0E1-207B-DD8B0F63ECD9}"/>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78A862AD-707A-F768-E21C-CE4577D7350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5CDEE527-1B30-4437-D5BC-BA5F07B05DF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18859ACA-1C30-FD27-83A3-872C0FAD3C74}"/>
              </a:ext>
            </a:extLst>
          </p:cNvPr>
          <p:cNvSpPr>
            <a:spLocks noGrp="1"/>
          </p:cNvSpPr>
          <p:nvPr>
            <p:ph type="dt" sz="half" idx="10"/>
          </p:nvPr>
        </p:nvSpPr>
        <p:spPr/>
        <p:txBody>
          <a:bodyPr/>
          <a:lstStyle/>
          <a:p>
            <a:fld id="{DD1105C4-3C9F-43E8-BD4A-1F275A1808D1}" type="datetime1">
              <a:rPr lang="es-AR" smtClean="0"/>
              <a:t>5/12/2025</a:t>
            </a:fld>
            <a:endParaRPr lang="es-AR"/>
          </a:p>
        </p:txBody>
      </p:sp>
      <p:sp>
        <p:nvSpPr>
          <p:cNvPr id="6" name="Marcador de pie de página 5">
            <a:extLst>
              <a:ext uri="{FF2B5EF4-FFF2-40B4-BE49-F238E27FC236}">
                <a16:creationId xmlns:a16="http://schemas.microsoft.com/office/drawing/2014/main" id="{9ECB5177-EF53-F6B3-AB29-7D4AE398512E}"/>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80A3D71B-98E8-F405-8FCE-B5EBCB37F3D9}"/>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3420318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037881-EA98-52D3-2BE2-E7B874F0718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8193D53D-02CA-1D4E-C14C-F2D471D78B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43ABCD1-83DB-2EA0-1522-82BE8DA9E55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C3006971-CD14-4FD9-D3D2-270E1CB552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36C7C92-0C38-E219-6A58-F442136D70E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F4893C5C-9E34-929F-FED1-139E7FE05A37}"/>
              </a:ext>
            </a:extLst>
          </p:cNvPr>
          <p:cNvSpPr>
            <a:spLocks noGrp="1"/>
          </p:cNvSpPr>
          <p:nvPr>
            <p:ph type="dt" sz="half" idx="10"/>
          </p:nvPr>
        </p:nvSpPr>
        <p:spPr/>
        <p:txBody>
          <a:bodyPr/>
          <a:lstStyle/>
          <a:p>
            <a:fld id="{50E83066-2BF1-4D46-ADDC-9362EB2FD994}" type="datetime1">
              <a:rPr lang="es-AR" smtClean="0"/>
              <a:t>5/12/2025</a:t>
            </a:fld>
            <a:endParaRPr lang="es-AR"/>
          </a:p>
        </p:txBody>
      </p:sp>
      <p:sp>
        <p:nvSpPr>
          <p:cNvPr id="8" name="Marcador de pie de página 7">
            <a:extLst>
              <a:ext uri="{FF2B5EF4-FFF2-40B4-BE49-F238E27FC236}">
                <a16:creationId xmlns:a16="http://schemas.microsoft.com/office/drawing/2014/main" id="{E52BBE64-74FA-842A-8BDE-D7071E094F00}"/>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F89CD8F7-CFAD-C074-D7A2-67CA4444AF79}"/>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1679030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D1E5AB-16D5-9948-544B-BC78456F6E8C}"/>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38262677-496F-3BED-0501-42325B5425D7}"/>
              </a:ext>
            </a:extLst>
          </p:cNvPr>
          <p:cNvSpPr>
            <a:spLocks noGrp="1"/>
          </p:cNvSpPr>
          <p:nvPr>
            <p:ph type="dt" sz="half" idx="10"/>
          </p:nvPr>
        </p:nvSpPr>
        <p:spPr/>
        <p:txBody>
          <a:bodyPr/>
          <a:lstStyle/>
          <a:p>
            <a:fld id="{1BE2556C-0FC4-49EB-B01E-5610669A1969}" type="datetime1">
              <a:rPr lang="es-AR" smtClean="0"/>
              <a:t>5/12/2025</a:t>
            </a:fld>
            <a:endParaRPr lang="es-AR"/>
          </a:p>
        </p:txBody>
      </p:sp>
      <p:sp>
        <p:nvSpPr>
          <p:cNvPr id="4" name="Marcador de pie de página 3">
            <a:extLst>
              <a:ext uri="{FF2B5EF4-FFF2-40B4-BE49-F238E27FC236}">
                <a16:creationId xmlns:a16="http://schemas.microsoft.com/office/drawing/2014/main" id="{2EDAA957-A975-2292-F688-B5AC7C090A0C}"/>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A0A93F09-3A83-B8D9-BB89-AB398C937976}"/>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122344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CD709CF-7AE2-0639-9CDA-45B21144CFAE}"/>
              </a:ext>
            </a:extLst>
          </p:cNvPr>
          <p:cNvSpPr>
            <a:spLocks noGrp="1"/>
          </p:cNvSpPr>
          <p:nvPr>
            <p:ph type="dt" sz="half" idx="10"/>
          </p:nvPr>
        </p:nvSpPr>
        <p:spPr/>
        <p:txBody>
          <a:bodyPr/>
          <a:lstStyle/>
          <a:p>
            <a:fld id="{CCA5FE84-DD64-4CC3-A497-4743DDC90736}" type="datetime1">
              <a:rPr lang="es-AR" smtClean="0"/>
              <a:t>5/12/2025</a:t>
            </a:fld>
            <a:endParaRPr lang="es-AR"/>
          </a:p>
        </p:txBody>
      </p:sp>
      <p:sp>
        <p:nvSpPr>
          <p:cNvPr id="3" name="Marcador de pie de página 2">
            <a:extLst>
              <a:ext uri="{FF2B5EF4-FFF2-40B4-BE49-F238E27FC236}">
                <a16:creationId xmlns:a16="http://schemas.microsoft.com/office/drawing/2014/main" id="{815B45E6-034E-44B9-D463-48B72B4F61E9}"/>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0B81BF57-CF79-68B2-BE32-B0BB0D639F59}"/>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3004545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6E978B-4FD1-0393-6F3E-85E8ECBEC3E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95C5E690-77DA-8D26-C610-0319AF5587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510BAA98-4705-B45C-2B82-7252374C6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07B1383-0737-E711-7D7D-5D078B435997}"/>
              </a:ext>
            </a:extLst>
          </p:cNvPr>
          <p:cNvSpPr>
            <a:spLocks noGrp="1"/>
          </p:cNvSpPr>
          <p:nvPr>
            <p:ph type="dt" sz="half" idx="10"/>
          </p:nvPr>
        </p:nvSpPr>
        <p:spPr/>
        <p:txBody>
          <a:bodyPr/>
          <a:lstStyle/>
          <a:p>
            <a:fld id="{76E9A93A-C9BE-44EF-A6EA-4933A3AA6C44}" type="datetime1">
              <a:rPr lang="es-AR" smtClean="0"/>
              <a:t>5/12/2025</a:t>
            </a:fld>
            <a:endParaRPr lang="es-AR"/>
          </a:p>
        </p:txBody>
      </p:sp>
      <p:sp>
        <p:nvSpPr>
          <p:cNvPr id="6" name="Marcador de pie de página 5">
            <a:extLst>
              <a:ext uri="{FF2B5EF4-FFF2-40B4-BE49-F238E27FC236}">
                <a16:creationId xmlns:a16="http://schemas.microsoft.com/office/drawing/2014/main" id="{55667BD6-797C-13A5-B171-86A1AC7A9F9F}"/>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A3E20A30-5060-50F2-37DB-A7039FBF1D88}"/>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184136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370B11-8594-D11F-3A8E-8BA1910B0DF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52997ED1-896F-0BB4-7E89-31C6E37E6F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BBF46220-0E89-C418-E1A1-1A2952ACE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FEA0B70-A563-945A-879A-6203E36CB58A}"/>
              </a:ext>
            </a:extLst>
          </p:cNvPr>
          <p:cNvSpPr>
            <a:spLocks noGrp="1"/>
          </p:cNvSpPr>
          <p:nvPr>
            <p:ph type="dt" sz="half" idx="10"/>
          </p:nvPr>
        </p:nvSpPr>
        <p:spPr/>
        <p:txBody>
          <a:bodyPr/>
          <a:lstStyle/>
          <a:p>
            <a:fld id="{6BBCD9EC-F126-4AF6-8AB8-C01F8FBC5D8D}" type="datetime1">
              <a:rPr lang="es-AR" smtClean="0"/>
              <a:t>5/12/2025</a:t>
            </a:fld>
            <a:endParaRPr lang="es-AR"/>
          </a:p>
        </p:txBody>
      </p:sp>
      <p:sp>
        <p:nvSpPr>
          <p:cNvPr id="6" name="Marcador de pie de página 5">
            <a:extLst>
              <a:ext uri="{FF2B5EF4-FFF2-40B4-BE49-F238E27FC236}">
                <a16:creationId xmlns:a16="http://schemas.microsoft.com/office/drawing/2014/main" id="{50EBA325-AAFA-C43A-19DE-9AC56E8F77C0}"/>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E950B9DB-1E9F-6713-9578-8697530BF25E}"/>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2441099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DAE3F4-39C5-1E79-504D-ED5700BF1119}"/>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0B91C559-DC2E-8CAF-E52F-B10722E261C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B43CE84-18E1-3C8B-4499-E427B84266AF}"/>
              </a:ext>
            </a:extLst>
          </p:cNvPr>
          <p:cNvSpPr>
            <a:spLocks noGrp="1"/>
          </p:cNvSpPr>
          <p:nvPr>
            <p:ph type="dt" sz="half" idx="10"/>
          </p:nvPr>
        </p:nvSpPr>
        <p:spPr/>
        <p:txBody>
          <a:bodyPr/>
          <a:lstStyle/>
          <a:p>
            <a:fld id="{90E153C9-4A70-4ECB-A0AA-223CE2CA69CC}" type="datetime1">
              <a:rPr lang="es-AR" smtClean="0"/>
              <a:t>5/12/2025</a:t>
            </a:fld>
            <a:endParaRPr lang="es-AR"/>
          </a:p>
        </p:txBody>
      </p:sp>
      <p:sp>
        <p:nvSpPr>
          <p:cNvPr id="5" name="Marcador de pie de página 4">
            <a:extLst>
              <a:ext uri="{FF2B5EF4-FFF2-40B4-BE49-F238E27FC236}">
                <a16:creationId xmlns:a16="http://schemas.microsoft.com/office/drawing/2014/main" id="{5A142CF1-5123-D3D9-6A03-A64B378C0EAF}"/>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554A941-A206-7CF2-0F98-19DDAD790E5A}"/>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1605428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57359A8-A1CD-9099-FD89-BA655BF5B8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125CAC21-C751-A818-2897-8788B4FF782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F201FD2-FDAD-46B8-44BB-BD292C04AD4F}"/>
              </a:ext>
            </a:extLst>
          </p:cNvPr>
          <p:cNvSpPr>
            <a:spLocks noGrp="1"/>
          </p:cNvSpPr>
          <p:nvPr>
            <p:ph type="dt" sz="half" idx="10"/>
          </p:nvPr>
        </p:nvSpPr>
        <p:spPr/>
        <p:txBody>
          <a:bodyPr/>
          <a:lstStyle/>
          <a:p>
            <a:fld id="{42B821D1-CBAF-4037-BE52-FA418AA2C8FD}" type="datetime1">
              <a:rPr lang="es-AR" smtClean="0"/>
              <a:t>5/12/2025</a:t>
            </a:fld>
            <a:endParaRPr lang="es-AR"/>
          </a:p>
        </p:txBody>
      </p:sp>
      <p:sp>
        <p:nvSpPr>
          <p:cNvPr id="5" name="Marcador de pie de página 4">
            <a:extLst>
              <a:ext uri="{FF2B5EF4-FFF2-40B4-BE49-F238E27FC236}">
                <a16:creationId xmlns:a16="http://schemas.microsoft.com/office/drawing/2014/main" id="{252B3AE8-7C12-02ED-DEBD-3A526A94F34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DF12CC6-7840-EDC8-3FEA-C1942E2AAC5F}"/>
              </a:ext>
            </a:extLst>
          </p:cNvPr>
          <p:cNvSpPr>
            <a:spLocks noGrp="1"/>
          </p:cNvSpPr>
          <p:nvPr>
            <p:ph type="sldNum" sz="quarter" idx="12"/>
          </p:nvPr>
        </p:nvSpPr>
        <p:spPr/>
        <p:txBody>
          <a:bodyPr/>
          <a:lstStyle/>
          <a:p>
            <a:fld id="{4CEF51D4-1478-44BE-805B-0FBC46FC0272}" type="slidenum">
              <a:rPr lang="es-AR" smtClean="0"/>
              <a:t>‹#›</a:t>
            </a:fld>
            <a:endParaRPr lang="es-AR"/>
          </a:p>
        </p:txBody>
      </p:sp>
    </p:spTree>
    <p:extLst>
      <p:ext uri="{BB962C8B-B14F-4D97-AF65-F5344CB8AC3E}">
        <p14:creationId xmlns:p14="http://schemas.microsoft.com/office/powerpoint/2010/main" val="787684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99B8885-3C59-CF02-675F-70C6E4E660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C26666DB-5267-AB0D-86D0-2E1594870C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35E778E-335E-4CBD-B0B5-34165607AD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7ABD16-E496-4065-B63D-74155924A882}" type="datetime1">
              <a:rPr lang="es-AR" smtClean="0"/>
              <a:t>5/12/2025</a:t>
            </a:fld>
            <a:endParaRPr lang="es-AR"/>
          </a:p>
        </p:txBody>
      </p:sp>
      <p:sp>
        <p:nvSpPr>
          <p:cNvPr id="5" name="Marcador de pie de página 4">
            <a:extLst>
              <a:ext uri="{FF2B5EF4-FFF2-40B4-BE49-F238E27FC236}">
                <a16:creationId xmlns:a16="http://schemas.microsoft.com/office/drawing/2014/main" id="{1118A80D-6B7E-36EC-DDEC-16F98EEF69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0044CAA8-B772-4218-DE3F-A489C6B64B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EF51D4-1478-44BE-805B-0FBC46FC0272}" type="slidenum">
              <a:rPr lang="es-AR" smtClean="0"/>
              <a:t>‹#›</a:t>
            </a:fld>
            <a:endParaRPr lang="es-AR"/>
          </a:p>
        </p:txBody>
      </p:sp>
    </p:spTree>
    <p:extLst>
      <p:ext uri="{BB962C8B-B14F-4D97-AF65-F5344CB8AC3E}">
        <p14:creationId xmlns:p14="http://schemas.microsoft.com/office/powerpoint/2010/main" val="125431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046E6CF9-A07A-971B-5864-B1732B1BBDCD}"/>
              </a:ext>
            </a:extLst>
          </p:cNvPr>
          <p:cNvPicPr>
            <a:picLocks noChangeAspect="1"/>
          </p:cNvPicPr>
          <p:nvPr/>
        </p:nvPicPr>
        <p:blipFill>
          <a:blip r:embed="rId2">
            <a:alphaModFix amt="50000"/>
          </a:blip>
          <a:srcRect t="47153" b="254"/>
          <a:stretch>
            <a:fillRect/>
          </a:stretch>
        </p:blipFill>
        <p:spPr>
          <a:xfrm>
            <a:off x="20" y="1"/>
            <a:ext cx="12191980" cy="6857999"/>
          </a:xfrm>
          <a:prstGeom prst="rect">
            <a:avLst/>
          </a:prstGeom>
        </p:spPr>
      </p:pic>
      <p:sp>
        <p:nvSpPr>
          <p:cNvPr id="2" name="Título 1">
            <a:extLst>
              <a:ext uri="{FF2B5EF4-FFF2-40B4-BE49-F238E27FC236}">
                <a16:creationId xmlns:a16="http://schemas.microsoft.com/office/drawing/2014/main" id="{2393C27F-319E-8EAF-E798-6DF6B1E7DDA2}"/>
              </a:ext>
            </a:extLst>
          </p:cNvPr>
          <p:cNvSpPr>
            <a:spLocks noGrp="1"/>
          </p:cNvSpPr>
          <p:nvPr>
            <p:ph type="ctrTitle"/>
          </p:nvPr>
        </p:nvSpPr>
        <p:spPr>
          <a:xfrm>
            <a:off x="1524000" y="629444"/>
            <a:ext cx="9144000" cy="2900518"/>
          </a:xfrm>
        </p:spPr>
        <p:txBody>
          <a:bodyPr>
            <a:normAutofit/>
          </a:bodyPr>
          <a:lstStyle/>
          <a:p>
            <a:r>
              <a:rPr lang="es-ES">
                <a:solidFill>
                  <a:srgbClr val="FFFFFF"/>
                </a:solidFill>
              </a:rPr>
              <a:t>AGRICULTURA Y SEGURIDAD ALIMENTARIA</a:t>
            </a:r>
            <a:endParaRPr lang="es-AR" dirty="0">
              <a:solidFill>
                <a:srgbClr val="FFFFFF"/>
              </a:solidFill>
            </a:endParaRPr>
          </a:p>
        </p:txBody>
      </p:sp>
      <p:sp>
        <p:nvSpPr>
          <p:cNvPr id="3" name="Subtítulo 2">
            <a:extLst>
              <a:ext uri="{FF2B5EF4-FFF2-40B4-BE49-F238E27FC236}">
                <a16:creationId xmlns:a16="http://schemas.microsoft.com/office/drawing/2014/main" id="{2F80DA4C-8F4D-363E-F6A7-EFB6492F838E}"/>
              </a:ext>
            </a:extLst>
          </p:cNvPr>
          <p:cNvSpPr>
            <a:spLocks noGrp="1"/>
          </p:cNvSpPr>
          <p:nvPr>
            <p:ph type="subTitle" idx="1"/>
          </p:nvPr>
        </p:nvSpPr>
        <p:spPr>
          <a:xfrm>
            <a:off x="1524000" y="3927423"/>
            <a:ext cx="9313888" cy="2578307"/>
          </a:xfrm>
        </p:spPr>
        <p:txBody>
          <a:bodyPr>
            <a:normAutofit/>
          </a:bodyPr>
          <a:lstStyle/>
          <a:p>
            <a:r>
              <a:rPr lang="es-ES">
                <a:solidFill>
                  <a:srgbClr val="FFFFFF"/>
                </a:solidFill>
              </a:rPr>
              <a:t>Ciencia de Datos para Economía y Negocios FCE-UBA 2C 2025. </a:t>
            </a:r>
          </a:p>
          <a:p>
            <a:r>
              <a:rPr lang="es-ES">
                <a:solidFill>
                  <a:srgbClr val="FFFFFF"/>
                </a:solidFill>
              </a:rPr>
              <a:t>Prof. Nicolas Sidicaro.</a:t>
            </a:r>
          </a:p>
          <a:p>
            <a:endParaRPr lang="es-ES">
              <a:solidFill>
                <a:srgbClr val="FFFFFF"/>
              </a:solidFill>
            </a:endParaRPr>
          </a:p>
          <a:p>
            <a:r>
              <a:rPr lang="es-ES">
                <a:solidFill>
                  <a:srgbClr val="FFFFFF"/>
                </a:solidFill>
              </a:rPr>
              <a:t>Joao Paulo Pereira Dias Bento Ferreira. Nro registro: 909704.</a:t>
            </a:r>
          </a:p>
          <a:p>
            <a:r>
              <a:rPr lang="es-ES">
                <a:solidFill>
                  <a:srgbClr val="FFFFFF"/>
                </a:solidFill>
              </a:rPr>
              <a:t>Irina Magali Villarroel. Nro registro: 895608.</a:t>
            </a:r>
          </a:p>
          <a:p>
            <a:endParaRPr lang="es-AR" dirty="0">
              <a:solidFill>
                <a:srgbClr val="FFFFFF"/>
              </a:solidFill>
            </a:endParaRPr>
          </a:p>
        </p:txBody>
      </p:sp>
    </p:spTree>
    <p:extLst>
      <p:ext uri="{BB962C8B-B14F-4D97-AF65-F5344CB8AC3E}">
        <p14:creationId xmlns:p14="http://schemas.microsoft.com/office/powerpoint/2010/main" val="274833141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1500"/>
                                  </p:stCondLst>
                                  <p:iterate>
                                    <p:tmPct val="10000"/>
                                  </p:iterate>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7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1500"/>
                                  </p:stCondLst>
                                  <p:iterate>
                                    <p:tmPct val="10000"/>
                                  </p:iterate>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7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5" name="Rectangle 1044">
            <a:extLst>
              <a:ext uri="{FF2B5EF4-FFF2-40B4-BE49-F238E27FC236}">
                <a16:creationId xmlns:a16="http://schemas.microsoft.com/office/drawing/2014/main" id="{6B5E2835-4E47-45B3-9CFE-732FF7B054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025FC901-21C6-C604-7B81-BAB0192B6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861" r="4033" b="-1"/>
          <a:stretch>
            <a:fillRect/>
          </a:stretch>
        </p:blipFill>
        <p:spPr bwMode="auto">
          <a:xfrm>
            <a:off x="3242695" y="10"/>
            <a:ext cx="8949307" cy="6857990"/>
          </a:xfrm>
          <a:custGeom>
            <a:avLst/>
            <a:gdLst/>
            <a:ahLst/>
            <a:cxnLst/>
            <a:rect l="l" t="t" r="r" b="b"/>
            <a:pathLst>
              <a:path w="8949307" h="6858000">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1047" name="Freeform: Shape 1046">
            <a:extLst>
              <a:ext uri="{FF2B5EF4-FFF2-40B4-BE49-F238E27FC236}">
                <a16:creationId xmlns:a16="http://schemas.microsoft.com/office/drawing/2014/main" id="{5B45AD5D-AA52-4F7B-9362-576A39AD9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D5D5D5"/>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49" name="Freeform: Shape 1048">
            <a:extLst>
              <a:ext uri="{FF2B5EF4-FFF2-40B4-BE49-F238E27FC236}">
                <a16:creationId xmlns:a16="http://schemas.microsoft.com/office/drawing/2014/main" id="{AEDD7960-4866-4399-BEF6-DD1431AB4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C51C114-6430-C5B9-979F-3A9118ACB675}"/>
              </a:ext>
            </a:extLst>
          </p:cNvPr>
          <p:cNvSpPr>
            <a:spLocks noGrp="1"/>
          </p:cNvSpPr>
          <p:nvPr>
            <p:ph type="title"/>
          </p:nvPr>
        </p:nvSpPr>
        <p:spPr>
          <a:xfrm>
            <a:off x="371094" y="1161288"/>
            <a:ext cx="3438144" cy="1125728"/>
          </a:xfrm>
        </p:spPr>
        <p:txBody>
          <a:bodyPr anchor="b">
            <a:normAutofit/>
          </a:bodyPr>
          <a:lstStyle/>
          <a:p>
            <a:r>
              <a:rPr lang="es-ES" sz="2800"/>
              <a:t>¿Qué es la seguridad alimentaria?</a:t>
            </a:r>
            <a:endParaRPr lang="es-AR" sz="2800"/>
          </a:p>
        </p:txBody>
      </p:sp>
      <p:sp>
        <p:nvSpPr>
          <p:cNvPr id="1051" name="Rectangle 105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53" name="Rectangle 105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72D202E8-EA6B-BC7A-B312-7C3837015CEF}"/>
              </a:ext>
            </a:extLst>
          </p:cNvPr>
          <p:cNvSpPr>
            <a:spLocks noGrp="1"/>
          </p:cNvSpPr>
          <p:nvPr>
            <p:ph idx="1"/>
          </p:nvPr>
        </p:nvSpPr>
        <p:spPr>
          <a:xfrm>
            <a:off x="371094" y="2718054"/>
            <a:ext cx="3438906" cy="3207258"/>
          </a:xfrm>
        </p:spPr>
        <p:txBody>
          <a:bodyPr anchor="t">
            <a:normAutofit/>
          </a:bodyPr>
          <a:lstStyle/>
          <a:p>
            <a:r>
              <a:rPr lang="es-ES" sz="1700"/>
              <a:t>La seguridad alimentaria existe cuando todas las personas tienen, en todo momento, acceso físico, social y económico a alimentos suficientes, inocuos y nutritivos que satisfacen sus necesidades energéticas diarias y preferencias alimentarias para llevar una vida activa y sana. </a:t>
            </a:r>
          </a:p>
          <a:p>
            <a:pPr marL="0" indent="0">
              <a:buNone/>
            </a:pPr>
            <a:r>
              <a:rPr lang="es-ES" sz="1700"/>
              <a:t>- La Cumbre Mundial sobre la Alimentación (1996)</a:t>
            </a:r>
            <a:endParaRPr lang="es-AR" sz="1700"/>
          </a:p>
        </p:txBody>
      </p:sp>
    </p:spTree>
    <p:extLst>
      <p:ext uri="{BB962C8B-B14F-4D97-AF65-F5344CB8AC3E}">
        <p14:creationId xmlns:p14="http://schemas.microsoft.com/office/powerpoint/2010/main" val="4246404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B59B500-43A4-0329-3EB0-D72996918403}"/>
              </a:ext>
            </a:extLst>
          </p:cNvPr>
          <p:cNvSpPr>
            <a:spLocks noGrp="1"/>
          </p:cNvSpPr>
          <p:nvPr>
            <p:ph type="title"/>
          </p:nvPr>
        </p:nvSpPr>
        <p:spPr>
          <a:xfrm>
            <a:off x="838200" y="365125"/>
            <a:ext cx="10515600" cy="1325563"/>
          </a:xfrm>
        </p:spPr>
        <p:txBody>
          <a:bodyPr>
            <a:normAutofit/>
          </a:bodyPr>
          <a:lstStyle/>
          <a:p>
            <a:r>
              <a:rPr lang="es-ES" sz="5400"/>
              <a:t>Cuatro dimensiones primordiales:</a:t>
            </a:r>
            <a:endParaRPr lang="es-AR"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1D6CD38-6764-3604-5CAF-6A55E31D7764}"/>
              </a:ext>
            </a:extLst>
          </p:cNvPr>
          <p:cNvSpPr>
            <a:spLocks noGrp="1"/>
          </p:cNvSpPr>
          <p:nvPr>
            <p:ph idx="1"/>
          </p:nvPr>
        </p:nvSpPr>
        <p:spPr>
          <a:xfrm>
            <a:off x="838200" y="1929384"/>
            <a:ext cx="10515600" cy="4251960"/>
          </a:xfrm>
        </p:spPr>
        <p:txBody>
          <a:bodyPr>
            <a:normAutofit/>
          </a:bodyPr>
          <a:lstStyle/>
          <a:p>
            <a:r>
              <a:rPr lang="es-ES" sz="2000"/>
              <a:t>La </a:t>
            </a:r>
            <a:r>
              <a:rPr lang="es-ES" sz="2000" b="1"/>
              <a:t>DISPONIBILIDAD FISICA </a:t>
            </a:r>
            <a:r>
              <a:rPr lang="es-ES" sz="2000"/>
              <a:t>de los alimentos: oferta en función de producción de alimentos, niveles de existencia y el comercio neto.</a:t>
            </a:r>
          </a:p>
          <a:p>
            <a:pPr marL="0" indent="0">
              <a:buNone/>
            </a:pPr>
            <a:endParaRPr lang="es-ES" sz="2000"/>
          </a:p>
          <a:p>
            <a:r>
              <a:rPr lang="es-ES" sz="2000"/>
              <a:t>El </a:t>
            </a:r>
            <a:r>
              <a:rPr lang="es-ES" sz="2000" b="1"/>
              <a:t>ACCESO</a:t>
            </a:r>
            <a:r>
              <a:rPr lang="es-ES" sz="2000"/>
              <a:t> económico y físico a los alimentos: ingresos y gastos para alcanzar los objetivos de seguridad alimentaria.</a:t>
            </a:r>
          </a:p>
          <a:p>
            <a:pPr marL="0" indent="0">
              <a:buNone/>
            </a:pPr>
            <a:endParaRPr lang="es-ES" sz="2000"/>
          </a:p>
          <a:p>
            <a:r>
              <a:rPr lang="es-ES" sz="2000"/>
              <a:t>La </a:t>
            </a:r>
            <a:r>
              <a:rPr lang="es-ES" sz="2000" b="1"/>
              <a:t>UTILIZACIÓN</a:t>
            </a:r>
            <a:r>
              <a:rPr lang="es-ES" sz="2000"/>
              <a:t> de los alimentos:  buenas practicas de salud y alimentación, correcta preparación, diversidad de la dieta y buena distribución dentro de los hogares.</a:t>
            </a:r>
          </a:p>
          <a:p>
            <a:pPr marL="0" indent="0">
              <a:buNone/>
            </a:pPr>
            <a:endParaRPr lang="es-ES" sz="2000"/>
          </a:p>
          <a:p>
            <a:r>
              <a:rPr lang="es-ES" sz="2000"/>
              <a:t>La </a:t>
            </a:r>
            <a:r>
              <a:rPr lang="es-ES" sz="2000" b="1"/>
              <a:t>ESTABILIDAD</a:t>
            </a:r>
            <a:r>
              <a:rPr lang="es-ES" sz="2000"/>
              <a:t> en el tiempo de las tres dimensiones anteriores: tener asegurado acceso a los alimentos de manera periódica representando un riesgo para la condición nutricional. Ej: condiciones climáticas adversas, factores económicos, inestabilidad política.</a:t>
            </a:r>
            <a:endParaRPr lang="es-AR" sz="2000"/>
          </a:p>
        </p:txBody>
      </p:sp>
    </p:spTree>
    <p:extLst>
      <p:ext uri="{BB962C8B-B14F-4D97-AF65-F5344CB8AC3E}">
        <p14:creationId xmlns:p14="http://schemas.microsoft.com/office/powerpoint/2010/main" val="2224677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566A34A-97F5-CA0A-9720-C1E086C2B189}"/>
              </a:ext>
            </a:extLst>
          </p:cNvPr>
          <p:cNvSpPr>
            <a:spLocks noGrp="1"/>
          </p:cNvSpPr>
          <p:nvPr>
            <p:ph type="title"/>
          </p:nvPr>
        </p:nvSpPr>
        <p:spPr>
          <a:xfrm>
            <a:off x="838200" y="365125"/>
            <a:ext cx="10684764" cy="1564259"/>
          </a:xfrm>
        </p:spPr>
        <p:txBody>
          <a:bodyPr>
            <a:normAutofit/>
          </a:bodyPr>
          <a:lstStyle/>
          <a:p>
            <a:r>
              <a:rPr lang="es-ES" sz="3000" dirty="0"/>
              <a:t>El nivel de ingreso per cápita es un mejor predictor de la seguridad alimentaria de un país que la productividad agrícola.</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5BFDC61-66CA-2FA1-540D-4903961A6CCA}"/>
              </a:ext>
            </a:extLst>
          </p:cNvPr>
          <p:cNvSpPr>
            <a:spLocks noGrp="1"/>
          </p:cNvSpPr>
          <p:nvPr>
            <p:ph idx="1"/>
          </p:nvPr>
        </p:nvSpPr>
        <p:spPr>
          <a:xfrm>
            <a:off x="669036" y="1929384"/>
            <a:ext cx="11153931" cy="5079418"/>
          </a:xfrm>
        </p:spPr>
        <p:txBody>
          <a:bodyPr>
            <a:normAutofit/>
          </a:bodyPr>
          <a:lstStyle/>
          <a:p>
            <a:pPr marL="0" indent="0">
              <a:buNone/>
            </a:pPr>
            <a:endParaRPr lang="es-ES" sz="2200" dirty="0"/>
          </a:p>
          <a:p>
            <a:pPr marL="0" indent="0">
              <a:buNone/>
            </a:pPr>
            <a:r>
              <a:rPr lang="es-ES" sz="2200" dirty="0"/>
              <a:t>Tradicionalmente, la productividad agrícola ha sido vista como un indicador clave: más producción implica mayor disponibilidad de alimentos. Sin embargo, en muchos países el problema no es sólo la producción, sino también la capacidad de acceso por parte de la población. En ese sentido, el ingreso per cápita puede reflejar mejor la capacidad de los hogares de adquirir alimentos, invertir en nutrición, infraestructura y servicios, y responder a shocks económicos o ambientales. Por ello hemos elegido investigar si el ingreso per cápita es un predictor más robusto que la productividad agrícola para la seguridad alimentaria de un país.</a:t>
            </a:r>
            <a:endParaRPr lang="es-AR" sz="2200" dirty="0"/>
          </a:p>
        </p:txBody>
      </p:sp>
    </p:spTree>
    <p:extLst>
      <p:ext uri="{BB962C8B-B14F-4D97-AF65-F5344CB8AC3E}">
        <p14:creationId xmlns:p14="http://schemas.microsoft.com/office/powerpoint/2010/main" val="4201142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54551F-05A0-176C-D29E-94F07CF06CD8}"/>
              </a:ext>
            </a:extLst>
          </p:cNvPr>
          <p:cNvSpPr>
            <a:spLocks noGrp="1"/>
          </p:cNvSpPr>
          <p:nvPr>
            <p:ph type="title"/>
          </p:nvPr>
        </p:nvSpPr>
        <p:spPr>
          <a:xfrm>
            <a:off x="838200" y="365125"/>
            <a:ext cx="10515600" cy="1325563"/>
          </a:xfrm>
        </p:spPr>
        <p:txBody>
          <a:bodyPr>
            <a:normAutofit/>
          </a:bodyPr>
          <a:lstStyle/>
          <a:p>
            <a:r>
              <a:rPr lang="es-ES" sz="4200" b="1"/>
              <a:t>ANALISIS EXPLORATORIO DE DATOS (EDA)</a:t>
            </a:r>
            <a:br>
              <a:rPr lang="es-AR" sz="4200" b="1"/>
            </a:br>
            <a:endParaRPr lang="es-AR" sz="42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22940FA-E04A-B635-ECA0-5664B71BC648}"/>
              </a:ext>
            </a:extLst>
          </p:cNvPr>
          <p:cNvSpPr>
            <a:spLocks noGrp="1"/>
          </p:cNvSpPr>
          <p:nvPr>
            <p:ph idx="1"/>
          </p:nvPr>
        </p:nvSpPr>
        <p:spPr>
          <a:xfrm>
            <a:off x="838200" y="1929384"/>
            <a:ext cx="10515600" cy="4251960"/>
          </a:xfrm>
        </p:spPr>
        <p:txBody>
          <a:bodyPr>
            <a:normAutofit/>
          </a:bodyPr>
          <a:lstStyle/>
          <a:p>
            <a:pPr marL="0" indent="0">
              <a:buNone/>
            </a:pPr>
            <a:r>
              <a:rPr lang="es-AR" sz="2200"/>
              <a:t>Las bases de datos elegidas para este análisis son: </a:t>
            </a:r>
          </a:p>
          <a:p>
            <a:pPr marL="0" indent="0">
              <a:buNone/>
            </a:pPr>
            <a:r>
              <a:rPr lang="es-AR" sz="2200"/>
              <a:t>- NY.GDP.PCAP.PP.CD (PIB per cápita PPP, WDI)</a:t>
            </a:r>
          </a:p>
          <a:p>
            <a:pPr marL="0" indent="0">
              <a:buNone/>
            </a:pPr>
            <a:r>
              <a:rPr lang="es-AR" sz="2200"/>
              <a:t> - AG.YLD.CREL.KG (rendimiento de cereales, WDI)</a:t>
            </a:r>
          </a:p>
          <a:p>
            <a:pPr marL="0" indent="0">
              <a:buNone/>
            </a:pPr>
            <a:r>
              <a:rPr lang="es-AR" sz="2200"/>
              <a:t> - kcal/cap/día (OWID-FAO)</a:t>
            </a:r>
          </a:p>
          <a:p>
            <a:pPr marL="0" indent="0">
              <a:buNone/>
            </a:pPr>
            <a:r>
              <a:rPr lang="es-AR" sz="2200"/>
              <a:t> Haciendo hincapié en la dimensión 1 y 2 de seguridad alimentaria, evaluaremos que si bien ambas explican el nivel de seguridad, el factor económico ¿impacta mas?</a:t>
            </a:r>
          </a:p>
        </p:txBody>
      </p:sp>
    </p:spTree>
    <p:extLst>
      <p:ext uri="{BB962C8B-B14F-4D97-AF65-F5344CB8AC3E}">
        <p14:creationId xmlns:p14="http://schemas.microsoft.com/office/powerpoint/2010/main" val="2038568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Marcador de contenido 4">
            <a:extLst>
              <a:ext uri="{FF2B5EF4-FFF2-40B4-BE49-F238E27FC236}">
                <a16:creationId xmlns:a16="http://schemas.microsoft.com/office/drawing/2014/main" id="{B061FF57-9147-7AFE-7742-9F38F3FB4546}"/>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36000"/>
                    </a14:imgEffect>
                  </a14:imgLayer>
                </a14:imgProps>
              </a:ext>
            </a:extLst>
          </a:blip>
          <a:srcRect t="40258" r="-1" b="10813"/>
          <a:stretch>
            <a:fillRect/>
          </a:stretch>
        </p:blipFill>
        <p:spPr>
          <a:xfrm>
            <a:off x="20" y="1282"/>
            <a:ext cx="12191980" cy="6856718"/>
          </a:xfrm>
          <a:prstGeom prst="rect">
            <a:avLst/>
          </a:prstGeom>
          <a:effectLst>
            <a:outerShdw dist="63500" dir="5400000" sx="1000" sy="1000" algn="ctr" rotWithShape="0">
              <a:srgbClr val="000000">
                <a:alpha val="98000"/>
              </a:srgbClr>
            </a:outerShdw>
          </a:effectLst>
        </p:spPr>
      </p:pic>
      <p:sp>
        <p:nvSpPr>
          <p:cNvPr id="6" name="CuadroTexto 5">
            <a:extLst>
              <a:ext uri="{FF2B5EF4-FFF2-40B4-BE49-F238E27FC236}">
                <a16:creationId xmlns:a16="http://schemas.microsoft.com/office/drawing/2014/main" id="{FE8FD0C4-8B66-0422-AEB4-B90DFB426EA0}"/>
              </a:ext>
            </a:extLst>
          </p:cNvPr>
          <p:cNvSpPr txBox="1"/>
          <p:nvPr/>
        </p:nvSpPr>
        <p:spPr>
          <a:xfrm>
            <a:off x="1019330" y="2068642"/>
            <a:ext cx="10402050" cy="3785652"/>
          </a:xfrm>
          <a:prstGeom prst="rect">
            <a:avLst/>
          </a:prstGeom>
          <a:noFill/>
        </p:spPr>
        <p:txBody>
          <a:bodyPr wrap="square" rtlCol="0">
            <a:spAutoFit/>
          </a:bodyPr>
          <a:lstStyle/>
          <a:p>
            <a:pPr marL="342900" indent="-342900">
              <a:buFontTx/>
              <a:buChar char="-"/>
            </a:pPr>
            <a:r>
              <a:rPr lang="es-ES" sz="2400" b="1" dirty="0">
                <a:solidFill>
                  <a:schemeClr val="bg1"/>
                </a:solidFill>
              </a:rPr>
              <a:t>nombre del país.</a:t>
            </a:r>
          </a:p>
          <a:p>
            <a:pPr marL="342900" indent="-342900">
              <a:buFontTx/>
              <a:buChar char="-"/>
            </a:pPr>
            <a:r>
              <a:rPr lang="es-ES" sz="2400" b="1" dirty="0">
                <a:solidFill>
                  <a:schemeClr val="bg1"/>
                </a:solidFill>
              </a:rPr>
              <a:t>calorías por día: </a:t>
            </a:r>
            <a:r>
              <a:rPr lang="es-ES" sz="2400" dirty="0">
                <a:solidFill>
                  <a:schemeClr val="bg1"/>
                </a:solidFill>
              </a:rPr>
              <a:t>proxy de la seguridad alimentaria, cuantas calorías hay disponibles para alimentar al promedio de la población por país.</a:t>
            </a:r>
            <a:endParaRPr lang="es-ES" sz="2400" b="1" dirty="0">
              <a:solidFill>
                <a:schemeClr val="bg1"/>
              </a:solidFill>
            </a:endParaRPr>
          </a:p>
          <a:p>
            <a:pPr marL="342900" indent="-342900">
              <a:buFontTx/>
              <a:buChar char="-"/>
            </a:pPr>
            <a:r>
              <a:rPr lang="es-ES" sz="2400" b="1" dirty="0">
                <a:solidFill>
                  <a:schemeClr val="bg1"/>
                </a:solidFill>
              </a:rPr>
              <a:t>PBI per cápita: </a:t>
            </a:r>
            <a:r>
              <a:rPr lang="es-ES" sz="2400" dirty="0">
                <a:solidFill>
                  <a:schemeClr val="bg1"/>
                </a:solidFill>
              </a:rPr>
              <a:t>indicador de ingreso real de la población, reflejando su capacidad económica para acceder a alimentos.</a:t>
            </a:r>
          </a:p>
          <a:p>
            <a:pPr marL="342900" indent="-342900">
              <a:buFontTx/>
              <a:buChar char="-"/>
            </a:pPr>
            <a:r>
              <a:rPr lang="es-ES" sz="2400" b="1" dirty="0">
                <a:solidFill>
                  <a:schemeClr val="bg1"/>
                </a:solidFill>
              </a:rPr>
              <a:t>rendimiento del cereal:</a:t>
            </a:r>
            <a:r>
              <a:rPr lang="es-ES" sz="2400" dirty="0">
                <a:solidFill>
                  <a:schemeClr val="bg1"/>
                </a:solidFill>
              </a:rPr>
              <a:t> para representar cantidad de kilos producidos por hectárea. (proxy de productividad agrícola).</a:t>
            </a:r>
          </a:p>
          <a:p>
            <a:endParaRPr lang="es-ES" sz="2400" dirty="0">
              <a:solidFill>
                <a:schemeClr val="bg1"/>
              </a:solidFill>
            </a:endParaRPr>
          </a:p>
          <a:p>
            <a:r>
              <a:rPr lang="es-ES" sz="2400" dirty="0">
                <a:solidFill>
                  <a:schemeClr val="bg1"/>
                </a:solidFill>
              </a:rPr>
              <a:t>Estas variables están disponibles para casi todos los países, son comparables internacionalmente y tienen poca discontinuidad temporal.</a:t>
            </a:r>
          </a:p>
        </p:txBody>
      </p:sp>
      <p:sp>
        <p:nvSpPr>
          <p:cNvPr id="14" name="CuadroTexto 13">
            <a:extLst>
              <a:ext uri="{FF2B5EF4-FFF2-40B4-BE49-F238E27FC236}">
                <a16:creationId xmlns:a16="http://schemas.microsoft.com/office/drawing/2014/main" id="{52C8671E-64BF-48EC-9CF2-4C94CE51F65B}"/>
              </a:ext>
            </a:extLst>
          </p:cNvPr>
          <p:cNvSpPr txBox="1"/>
          <p:nvPr/>
        </p:nvSpPr>
        <p:spPr>
          <a:xfrm>
            <a:off x="1585753" y="854440"/>
            <a:ext cx="9269204" cy="646331"/>
          </a:xfrm>
          <a:prstGeom prst="rect">
            <a:avLst/>
          </a:prstGeom>
          <a:noFill/>
        </p:spPr>
        <p:txBody>
          <a:bodyPr wrap="none" rtlCol="0">
            <a:spAutoFit/>
          </a:bodyPr>
          <a:lstStyle/>
          <a:p>
            <a:r>
              <a:rPr lang="es-ES" sz="3600" b="1">
                <a:solidFill>
                  <a:schemeClr val="bg1"/>
                </a:solidFill>
              </a:rPr>
              <a:t>VARIABLES RELEVANTES PARA EL ANALISIS</a:t>
            </a:r>
            <a:endParaRPr lang="es-AR" dirty="0"/>
          </a:p>
        </p:txBody>
      </p:sp>
    </p:spTree>
    <p:extLst>
      <p:ext uri="{BB962C8B-B14F-4D97-AF65-F5344CB8AC3E}">
        <p14:creationId xmlns:p14="http://schemas.microsoft.com/office/powerpoint/2010/main" val="3113065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10;&#10;AI-generated content may be incorrect.">
            <a:extLst>
              <a:ext uri="{FF2B5EF4-FFF2-40B4-BE49-F238E27FC236}">
                <a16:creationId xmlns:a16="http://schemas.microsoft.com/office/drawing/2014/main" id="{60D88293-025C-E6BA-2354-7F03050EEBB7}"/>
              </a:ext>
            </a:extLst>
          </p:cNvPr>
          <p:cNvPicPr>
            <a:picLocks noChangeAspect="1"/>
          </p:cNvPicPr>
          <p:nvPr/>
        </p:nvPicPr>
        <p:blipFill>
          <a:blip r:embed="rId2"/>
          <a:stretch>
            <a:fillRect/>
          </a:stretch>
        </p:blipFill>
        <p:spPr>
          <a:xfrm>
            <a:off x="1664616" y="614551"/>
            <a:ext cx="8578841" cy="5628897"/>
          </a:xfrm>
          <a:prstGeom prst="rect">
            <a:avLst/>
          </a:prstGeom>
        </p:spPr>
      </p:pic>
    </p:spTree>
    <p:extLst>
      <p:ext uri="{BB962C8B-B14F-4D97-AF65-F5344CB8AC3E}">
        <p14:creationId xmlns:p14="http://schemas.microsoft.com/office/powerpoint/2010/main" val="251910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84CB7B-5427-1500-E921-9640203BCDA1}"/>
              </a:ext>
            </a:extLst>
          </p:cNvPr>
          <p:cNvPicPr>
            <a:picLocks noChangeAspect="1"/>
          </p:cNvPicPr>
          <p:nvPr/>
        </p:nvPicPr>
        <p:blipFill>
          <a:blip r:embed="rId2"/>
          <a:stretch>
            <a:fillRect/>
          </a:stretch>
        </p:blipFill>
        <p:spPr>
          <a:xfrm>
            <a:off x="1411141" y="434023"/>
            <a:ext cx="9369717" cy="5989954"/>
          </a:xfrm>
          <a:prstGeom prst="rect">
            <a:avLst/>
          </a:prstGeom>
        </p:spPr>
      </p:pic>
    </p:spTree>
    <p:extLst>
      <p:ext uri="{BB962C8B-B14F-4D97-AF65-F5344CB8AC3E}">
        <p14:creationId xmlns:p14="http://schemas.microsoft.com/office/powerpoint/2010/main" val="3116347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AI-generated content may be incorrect.">
            <a:extLst>
              <a:ext uri="{FF2B5EF4-FFF2-40B4-BE49-F238E27FC236}">
                <a16:creationId xmlns:a16="http://schemas.microsoft.com/office/drawing/2014/main" id="{4BE93113-A687-681B-B541-EFD3F8093F80}"/>
              </a:ext>
            </a:extLst>
          </p:cNvPr>
          <p:cNvPicPr>
            <a:picLocks noChangeAspect="1"/>
          </p:cNvPicPr>
          <p:nvPr/>
        </p:nvPicPr>
        <p:blipFill>
          <a:blip r:embed="rId2"/>
          <a:stretch>
            <a:fillRect/>
          </a:stretch>
        </p:blipFill>
        <p:spPr>
          <a:xfrm>
            <a:off x="656466" y="485364"/>
            <a:ext cx="10879068" cy="5887272"/>
          </a:xfrm>
          <a:prstGeom prst="rect">
            <a:avLst/>
          </a:prstGeom>
        </p:spPr>
      </p:pic>
    </p:spTree>
    <p:extLst>
      <p:ext uri="{BB962C8B-B14F-4D97-AF65-F5344CB8AC3E}">
        <p14:creationId xmlns:p14="http://schemas.microsoft.com/office/powerpoint/2010/main" val="1734799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Marcador de contenido 4" descr="Un campo con árboles&#10;&#10;El contenido generado por IA puede ser incorrecto.">
            <a:extLst>
              <a:ext uri="{FF2B5EF4-FFF2-40B4-BE49-F238E27FC236}">
                <a16:creationId xmlns:a16="http://schemas.microsoft.com/office/drawing/2014/main" id="{D6944935-C4E2-565E-21F6-876FD4BD992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0874" b="16811"/>
          <a:stretch>
            <a:fillRect/>
          </a:stretch>
        </p:blipFill>
        <p:spPr>
          <a:xfrm>
            <a:off x="20" y="1282"/>
            <a:ext cx="12191980" cy="6856718"/>
          </a:xfrm>
          <a:prstGeom prst="rect">
            <a:avLst/>
          </a:prstGeom>
        </p:spPr>
      </p:pic>
      <p:sp>
        <p:nvSpPr>
          <p:cNvPr id="2" name="CuadroTexto 1">
            <a:extLst>
              <a:ext uri="{FF2B5EF4-FFF2-40B4-BE49-F238E27FC236}">
                <a16:creationId xmlns:a16="http://schemas.microsoft.com/office/drawing/2014/main" id="{2D8620AE-CF7F-B2BF-73F6-169A899363D0}"/>
              </a:ext>
            </a:extLst>
          </p:cNvPr>
          <p:cNvSpPr txBox="1"/>
          <p:nvPr/>
        </p:nvSpPr>
        <p:spPr>
          <a:xfrm>
            <a:off x="3171866" y="695929"/>
            <a:ext cx="6388800" cy="646331"/>
          </a:xfrm>
          <a:prstGeom prst="rect">
            <a:avLst/>
          </a:prstGeom>
          <a:noFill/>
        </p:spPr>
        <p:txBody>
          <a:bodyPr wrap="none" rtlCol="0">
            <a:spAutoFit/>
          </a:bodyPr>
          <a:lstStyle/>
          <a:p>
            <a:r>
              <a:rPr lang="es-ES" sz="3600" b="1" dirty="0">
                <a:solidFill>
                  <a:schemeClr val="bg1"/>
                </a:solidFill>
              </a:rPr>
              <a:t>ESTADÍSTICAS DESCRIPTIVAS</a:t>
            </a:r>
            <a:endParaRPr lang="es-AR" sz="3600" b="1" dirty="0">
              <a:solidFill>
                <a:schemeClr val="bg1"/>
              </a:solidFill>
            </a:endParaRPr>
          </a:p>
        </p:txBody>
      </p:sp>
      <p:pic>
        <p:nvPicPr>
          <p:cNvPr id="7" name="Imagen 6">
            <a:extLst>
              <a:ext uri="{FF2B5EF4-FFF2-40B4-BE49-F238E27FC236}">
                <a16:creationId xmlns:a16="http://schemas.microsoft.com/office/drawing/2014/main" id="{7BF8A5F6-DA0F-4C29-EBE8-1CF4185B179E}"/>
              </a:ext>
            </a:extLst>
          </p:cNvPr>
          <p:cNvPicPr>
            <a:picLocks noChangeAspect="1"/>
          </p:cNvPicPr>
          <p:nvPr/>
        </p:nvPicPr>
        <p:blipFill>
          <a:blip r:embed="rId3"/>
          <a:stretch>
            <a:fillRect/>
          </a:stretch>
        </p:blipFill>
        <p:spPr>
          <a:xfrm>
            <a:off x="434865" y="2036907"/>
            <a:ext cx="4520975" cy="1590713"/>
          </a:xfrm>
          <a:prstGeom prst="rect">
            <a:avLst/>
          </a:prstGeom>
        </p:spPr>
      </p:pic>
      <p:pic>
        <p:nvPicPr>
          <p:cNvPr id="9" name="Imagen 8">
            <a:extLst>
              <a:ext uri="{FF2B5EF4-FFF2-40B4-BE49-F238E27FC236}">
                <a16:creationId xmlns:a16="http://schemas.microsoft.com/office/drawing/2014/main" id="{B0187DB4-6B2F-69B7-73DE-007B25808782}"/>
              </a:ext>
            </a:extLst>
          </p:cNvPr>
          <p:cNvPicPr>
            <a:picLocks noChangeAspect="1"/>
          </p:cNvPicPr>
          <p:nvPr/>
        </p:nvPicPr>
        <p:blipFill>
          <a:blip r:embed="rId4"/>
          <a:stretch>
            <a:fillRect/>
          </a:stretch>
        </p:blipFill>
        <p:spPr>
          <a:xfrm>
            <a:off x="6096000" y="2036907"/>
            <a:ext cx="4927612" cy="1720185"/>
          </a:xfrm>
          <a:prstGeom prst="rect">
            <a:avLst/>
          </a:prstGeom>
        </p:spPr>
      </p:pic>
      <p:pic>
        <p:nvPicPr>
          <p:cNvPr id="11" name="Imagen 10">
            <a:extLst>
              <a:ext uri="{FF2B5EF4-FFF2-40B4-BE49-F238E27FC236}">
                <a16:creationId xmlns:a16="http://schemas.microsoft.com/office/drawing/2014/main" id="{C5331217-CF58-49F7-931A-68C464980422}"/>
              </a:ext>
            </a:extLst>
          </p:cNvPr>
          <p:cNvPicPr>
            <a:picLocks noChangeAspect="1"/>
          </p:cNvPicPr>
          <p:nvPr/>
        </p:nvPicPr>
        <p:blipFill>
          <a:blip r:embed="rId5"/>
          <a:stretch>
            <a:fillRect/>
          </a:stretch>
        </p:blipFill>
        <p:spPr>
          <a:xfrm>
            <a:off x="357037" y="4805979"/>
            <a:ext cx="4394758" cy="1599563"/>
          </a:xfrm>
          <a:prstGeom prst="rect">
            <a:avLst/>
          </a:prstGeom>
        </p:spPr>
      </p:pic>
      <p:sp>
        <p:nvSpPr>
          <p:cNvPr id="12" name="CuadroTexto 11">
            <a:extLst>
              <a:ext uri="{FF2B5EF4-FFF2-40B4-BE49-F238E27FC236}">
                <a16:creationId xmlns:a16="http://schemas.microsoft.com/office/drawing/2014/main" id="{146042F2-1FB3-F5D5-EDFA-DC68CB41F1BE}"/>
              </a:ext>
            </a:extLst>
          </p:cNvPr>
          <p:cNvSpPr txBox="1"/>
          <p:nvPr/>
        </p:nvSpPr>
        <p:spPr>
          <a:xfrm>
            <a:off x="1521697" y="1584449"/>
            <a:ext cx="2347309" cy="461665"/>
          </a:xfrm>
          <a:prstGeom prst="rect">
            <a:avLst/>
          </a:prstGeom>
          <a:noFill/>
        </p:spPr>
        <p:txBody>
          <a:bodyPr wrap="none" rtlCol="0">
            <a:spAutoFit/>
          </a:bodyPr>
          <a:lstStyle/>
          <a:p>
            <a:r>
              <a:rPr lang="es-ES" sz="2400" b="1" dirty="0">
                <a:solidFill>
                  <a:schemeClr val="bg1"/>
                </a:solidFill>
              </a:rPr>
              <a:t>PBI PER CAPITA</a:t>
            </a:r>
            <a:endParaRPr lang="es-AR" sz="2400" b="1" dirty="0">
              <a:solidFill>
                <a:schemeClr val="bg1"/>
              </a:solidFill>
            </a:endParaRPr>
          </a:p>
        </p:txBody>
      </p:sp>
      <p:sp>
        <p:nvSpPr>
          <p:cNvPr id="13" name="CuadroTexto 12">
            <a:extLst>
              <a:ext uri="{FF2B5EF4-FFF2-40B4-BE49-F238E27FC236}">
                <a16:creationId xmlns:a16="http://schemas.microsoft.com/office/drawing/2014/main" id="{14B77EB9-A1C9-FF0F-0244-879900F34897}"/>
              </a:ext>
            </a:extLst>
          </p:cNvPr>
          <p:cNvSpPr txBox="1"/>
          <p:nvPr/>
        </p:nvSpPr>
        <p:spPr>
          <a:xfrm>
            <a:off x="7118214" y="1584449"/>
            <a:ext cx="3382016" cy="461665"/>
          </a:xfrm>
          <a:prstGeom prst="rect">
            <a:avLst/>
          </a:prstGeom>
          <a:noFill/>
        </p:spPr>
        <p:txBody>
          <a:bodyPr wrap="none" rtlCol="0">
            <a:spAutoFit/>
          </a:bodyPr>
          <a:lstStyle/>
          <a:p>
            <a:r>
              <a:rPr lang="es-ES" sz="2400" b="1" dirty="0">
                <a:solidFill>
                  <a:schemeClr val="bg1"/>
                </a:solidFill>
              </a:rPr>
              <a:t>RENDIMIENTO CEREAL</a:t>
            </a:r>
            <a:endParaRPr lang="es-AR" sz="2400" b="1" dirty="0">
              <a:solidFill>
                <a:schemeClr val="bg1"/>
              </a:solidFill>
            </a:endParaRPr>
          </a:p>
        </p:txBody>
      </p:sp>
      <p:sp>
        <p:nvSpPr>
          <p:cNvPr id="14" name="CuadroTexto 13">
            <a:extLst>
              <a:ext uri="{FF2B5EF4-FFF2-40B4-BE49-F238E27FC236}">
                <a16:creationId xmlns:a16="http://schemas.microsoft.com/office/drawing/2014/main" id="{74ECFB62-8136-F0A5-CE6B-5EE52EBCA502}"/>
              </a:ext>
            </a:extLst>
          </p:cNvPr>
          <p:cNvSpPr txBox="1"/>
          <p:nvPr/>
        </p:nvSpPr>
        <p:spPr>
          <a:xfrm>
            <a:off x="1265023" y="4322267"/>
            <a:ext cx="2860655" cy="461665"/>
          </a:xfrm>
          <a:prstGeom prst="rect">
            <a:avLst/>
          </a:prstGeom>
          <a:noFill/>
        </p:spPr>
        <p:txBody>
          <a:bodyPr wrap="none" rtlCol="0">
            <a:spAutoFit/>
          </a:bodyPr>
          <a:lstStyle/>
          <a:p>
            <a:r>
              <a:rPr lang="es-ES" sz="2400" b="1" dirty="0">
                <a:solidFill>
                  <a:schemeClr val="bg1"/>
                </a:solidFill>
              </a:rPr>
              <a:t>CALORIAS POR DIA</a:t>
            </a:r>
            <a:endParaRPr lang="es-AR" sz="2400" b="1" dirty="0">
              <a:solidFill>
                <a:schemeClr val="bg1"/>
              </a:solidFill>
            </a:endParaRPr>
          </a:p>
        </p:txBody>
      </p:sp>
    </p:spTree>
    <p:extLst>
      <p:ext uri="{BB962C8B-B14F-4D97-AF65-F5344CB8AC3E}">
        <p14:creationId xmlns:p14="http://schemas.microsoft.com/office/powerpoint/2010/main" val="1869046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ítulo 1">
            <a:extLst>
              <a:ext uri="{FF2B5EF4-FFF2-40B4-BE49-F238E27FC236}">
                <a16:creationId xmlns:a16="http://schemas.microsoft.com/office/drawing/2014/main" id="{91994BBD-7320-9B4B-CC22-97354708EE7D}"/>
              </a:ext>
            </a:extLst>
          </p:cNvPr>
          <p:cNvSpPr>
            <a:spLocks noGrp="1"/>
          </p:cNvSpPr>
          <p:nvPr>
            <p:ph type="title"/>
          </p:nvPr>
        </p:nvSpPr>
        <p:spPr>
          <a:xfrm>
            <a:off x="838200" y="365125"/>
            <a:ext cx="10515600" cy="1325563"/>
          </a:xfrm>
        </p:spPr>
        <p:txBody>
          <a:bodyPr>
            <a:normAutofit/>
          </a:bodyPr>
          <a:lstStyle/>
          <a:p>
            <a:r>
              <a:rPr lang="es-ES" sz="5400"/>
              <a:t>DATOS FALTANTES</a:t>
            </a:r>
            <a:endParaRPr lang="es-AR" sz="5400"/>
          </a:p>
        </p:txBody>
      </p:sp>
      <p:sp>
        <p:nvSpPr>
          <p:cNvPr id="3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ontent Placeholder 8">
            <a:extLst>
              <a:ext uri="{FF2B5EF4-FFF2-40B4-BE49-F238E27FC236}">
                <a16:creationId xmlns:a16="http://schemas.microsoft.com/office/drawing/2014/main" id="{88C63E95-22CA-9AFE-4A79-5CBAD72F6308}"/>
              </a:ext>
            </a:extLst>
          </p:cNvPr>
          <p:cNvSpPr>
            <a:spLocks noGrp="1"/>
          </p:cNvSpPr>
          <p:nvPr>
            <p:ph idx="1"/>
          </p:nvPr>
        </p:nvSpPr>
        <p:spPr>
          <a:xfrm>
            <a:off x="838200" y="1929384"/>
            <a:ext cx="10515600" cy="4251960"/>
          </a:xfrm>
        </p:spPr>
        <p:txBody>
          <a:bodyPr>
            <a:normAutofit/>
          </a:bodyPr>
          <a:lstStyle/>
          <a:p>
            <a:pPr marL="0" indent="0">
              <a:buNone/>
            </a:pPr>
            <a:r>
              <a:rPr lang="en-US" sz="2200"/>
              <a:t>Las tres variables tienen datos faltantes superiores al 5%</a:t>
            </a:r>
          </a:p>
          <a:p>
            <a:pPr marL="0" indent="0">
              <a:buNone/>
            </a:pPr>
            <a:r>
              <a:rPr lang="en-US" sz="2200"/>
              <a:t>PBI per capita: 41,1%</a:t>
            </a:r>
          </a:p>
          <a:p>
            <a:pPr marL="0" indent="0">
              <a:buNone/>
            </a:pPr>
            <a:r>
              <a:rPr lang="en-US" sz="2200"/>
              <a:t>Rendimiento de cereales: 25.1%</a:t>
            </a:r>
          </a:p>
          <a:p>
            <a:pPr marL="0" indent="0">
              <a:buNone/>
            </a:pPr>
            <a:r>
              <a:rPr lang="en-US" sz="2200"/>
              <a:t>Kcal per dia: 6.8%</a:t>
            </a:r>
          </a:p>
          <a:p>
            <a:pPr marL="0" indent="0">
              <a:buNone/>
            </a:pPr>
            <a:r>
              <a:rPr lang="en-US" sz="2200"/>
              <a:t>Al ser series anuales, se aplico interporalacion lineal temporal para completer valores.</a:t>
            </a:r>
          </a:p>
          <a:p>
            <a:pPr marL="0" indent="0">
              <a:buNone/>
            </a:pPr>
            <a:r>
              <a:rPr lang="en-US" sz="2200"/>
              <a:t>Ya que la evolucion interannual es relativamente suave y no hay rupturas estructurales en los años faltantes.</a:t>
            </a:r>
          </a:p>
          <a:p>
            <a:pPr marL="0" indent="0">
              <a:buNone/>
            </a:pPr>
            <a:r>
              <a:rPr lang="en-US" sz="2200"/>
              <a:t>Asi converamos mayor cantidad de observaciones sin perder la estructura temporal.</a:t>
            </a:r>
          </a:p>
        </p:txBody>
      </p:sp>
    </p:spTree>
    <p:extLst>
      <p:ext uri="{BB962C8B-B14F-4D97-AF65-F5344CB8AC3E}">
        <p14:creationId xmlns:p14="http://schemas.microsoft.com/office/powerpoint/2010/main" val="1030351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14816ED-903B-187B-8B68-0964690C82EC}"/>
              </a:ext>
            </a:extLst>
          </p:cNvPr>
          <p:cNvSpPr>
            <a:spLocks noGrp="1"/>
          </p:cNvSpPr>
          <p:nvPr>
            <p:ph type="title"/>
          </p:nvPr>
        </p:nvSpPr>
        <p:spPr>
          <a:xfrm>
            <a:off x="838200" y="365125"/>
            <a:ext cx="10515600" cy="1325563"/>
          </a:xfrm>
        </p:spPr>
        <p:txBody>
          <a:bodyPr>
            <a:normAutofit/>
          </a:bodyPr>
          <a:lstStyle/>
          <a:p>
            <a:r>
              <a:rPr lang="es-ES" sz="5400"/>
              <a:t>OUTLIERS</a:t>
            </a:r>
            <a:endParaRPr lang="es-AR"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641EF80-1FCA-EF26-DBB6-97935549EE47}"/>
              </a:ext>
            </a:extLst>
          </p:cNvPr>
          <p:cNvSpPr>
            <a:spLocks noGrp="1"/>
          </p:cNvSpPr>
          <p:nvPr>
            <p:ph idx="1"/>
          </p:nvPr>
        </p:nvSpPr>
        <p:spPr>
          <a:xfrm>
            <a:off x="838200" y="1929384"/>
            <a:ext cx="10515600" cy="4251960"/>
          </a:xfrm>
        </p:spPr>
        <p:txBody>
          <a:bodyPr>
            <a:normAutofit/>
          </a:bodyPr>
          <a:lstStyle/>
          <a:p>
            <a:r>
              <a:rPr lang="es-ES" sz="2200"/>
              <a:t>Se detectaron mediante la regla 1.5 x IQR</a:t>
            </a:r>
          </a:p>
          <a:p>
            <a:r>
              <a:rPr lang="es-ES" sz="2200"/>
              <a:t>Cantidad de outliers identificados: </a:t>
            </a:r>
          </a:p>
          <a:p>
            <a:pPr>
              <a:buFontTx/>
              <a:buChar char="-"/>
            </a:pPr>
            <a:r>
              <a:rPr lang="es-ES" sz="2200"/>
              <a:t>PBI per capita: 2333 (6.56%)</a:t>
            </a:r>
          </a:p>
          <a:p>
            <a:pPr>
              <a:buFontTx/>
              <a:buChar char="-"/>
            </a:pPr>
            <a:r>
              <a:rPr lang="es-ES" sz="2200"/>
              <a:t>Rendimiento de cereales: 180 (0.4%)</a:t>
            </a:r>
          </a:p>
          <a:p>
            <a:pPr>
              <a:buFontTx/>
              <a:buChar char="-"/>
            </a:pPr>
            <a:r>
              <a:rPr lang="es-ES" sz="2200"/>
              <a:t>Kcal per capita: 7 (0.01%)</a:t>
            </a:r>
          </a:p>
          <a:p>
            <a:pPr marL="0" indent="0">
              <a:buNone/>
            </a:pPr>
            <a:endParaRPr lang="es-ES" sz="2200"/>
          </a:p>
          <a:p>
            <a:pPr marL="0" indent="0">
              <a:buNone/>
            </a:pPr>
            <a:r>
              <a:rPr lang="es-ES" sz="2200"/>
              <a:t>En nuestro análisis los outliers son informativos ya que reflejan países extremadamente ricos/pobres o muy productivos.</a:t>
            </a:r>
          </a:p>
          <a:p>
            <a:pPr marL="0" indent="0">
              <a:buNone/>
            </a:pPr>
            <a:r>
              <a:rPr lang="es-ES" sz="2200"/>
              <a:t>No se eliminaron. Se creo una dummie para saber si era outlier el valor y así controlar el efecto de valores externos en las regresiones.</a:t>
            </a:r>
            <a:endParaRPr lang="es-AR" sz="2200"/>
          </a:p>
        </p:txBody>
      </p:sp>
    </p:spTree>
    <p:extLst>
      <p:ext uri="{BB962C8B-B14F-4D97-AF65-F5344CB8AC3E}">
        <p14:creationId xmlns:p14="http://schemas.microsoft.com/office/powerpoint/2010/main" val="3612844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096F6E7-7355-2BEA-2A08-B05A7A26EE73}"/>
              </a:ext>
            </a:extLst>
          </p:cNvPr>
          <p:cNvSpPr>
            <a:spLocks noGrp="1"/>
          </p:cNvSpPr>
          <p:nvPr>
            <p:ph type="title"/>
          </p:nvPr>
        </p:nvSpPr>
        <p:spPr>
          <a:xfrm>
            <a:off x="838200" y="365125"/>
            <a:ext cx="10515600" cy="1325563"/>
          </a:xfrm>
        </p:spPr>
        <p:txBody>
          <a:bodyPr>
            <a:normAutofit/>
          </a:bodyPr>
          <a:lstStyle/>
          <a:p>
            <a:r>
              <a:rPr lang="es-ES" sz="5400"/>
              <a:t>POSIBLES EFECTOS</a:t>
            </a:r>
            <a:endParaRPr lang="es-AR"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D6B3AD1-7447-FC36-353B-C5CEA23C7832}"/>
              </a:ext>
            </a:extLst>
          </p:cNvPr>
          <p:cNvSpPr>
            <a:spLocks noGrp="1"/>
          </p:cNvSpPr>
          <p:nvPr>
            <p:ph idx="1"/>
          </p:nvPr>
        </p:nvSpPr>
        <p:spPr>
          <a:xfrm>
            <a:off x="838200" y="1929384"/>
            <a:ext cx="10515600" cy="4251960"/>
          </a:xfrm>
        </p:spPr>
        <p:txBody>
          <a:bodyPr>
            <a:normAutofit/>
          </a:bodyPr>
          <a:lstStyle/>
          <a:p>
            <a:r>
              <a:rPr lang="es-ES" sz="2200"/>
              <a:t>La interpolación puede suavizar la variabilidad interanual, mantiene la continuidad de la serie y evita perder países completos.</a:t>
            </a:r>
          </a:p>
          <a:p>
            <a:r>
              <a:rPr lang="es-ES" sz="2200"/>
              <a:t>Las dummies de outliers permiten mantener los valores originales sin que distorsionen estimaciones o coeficientes.</a:t>
            </a:r>
            <a:endParaRPr lang="es-AR" sz="2200"/>
          </a:p>
        </p:txBody>
      </p:sp>
    </p:spTree>
    <p:extLst>
      <p:ext uri="{BB962C8B-B14F-4D97-AF65-F5344CB8AC3E}">
        <p14:creationId xmlns:p14="http://schemas.microsoft.com/office/powerpoint/2010/main" val="1809550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5AFE88A-10E1-964F-55DA-00DB8AF80960}"/>
              </a:ext>
            </a:extLst>
          </p:cNvPr>
          <p:cNvSpPr>
            <a:spLocks noGrp="1"/>
          </p:cNvSpPr>
          <p:nvPr>
            <p:ph type="title"/>
          </p:nvPr>
        </p:nvSpPr>
        <p:spPr>
          <a:xfrm>
            <a:off x="838200" y="365125"/>
            <a:ext cx="10515600" cy="1325563"/>
          </a:xfrm>
        </p:spPr>
        <p:txBody>
          <a:bodyPr>
            <a:normAutofit/>
          </a:bodyPr>
          <a:lstStyle/>
          <a:p>
            <a:r>
              <a:rPr lang="es-ES" sz="4600" dirty="0"/>
              <a:t>EVALUACION IMPACTO DE LA LIMPIEZA</a:t>
            </a:r>
            <a:endParaRPr lang="es-AR" sz="4600" dirty="0"/>
          </a:p>
        </p:txBody>
      </p:sp>
      <p:sp>
        <p:nvSpPr>
          <p:cNvPr id="2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F881DA83-006A-70D0-F140-AE00FFE690BD}"/>
              </a:ext>
            </a:extLst>
          </p:cNvPr>
          <p:cNvPicPr>
            <a:picLocks noChangeAspect="1"/>
          </p:cNvPicPr>
          <p:nvPr/>
        </p:nvPicPr>
        <p:blipFill>
          <a:blip r:embed="rId3"/>
          <a:stretch>
            <a:fillRect/>
          </a:stretch>
        </p:blipFill>
        <p:spPr>
          <a:xfrm>
            <a:off x="169504" y="2254418"/>
            <a:ext cx="11849939" cy="1096436"/>
          </a:xfrm>
          <a:prstGeom prst="rect">
            <a:avLst/>
          </a:prstGeom>
        </p:spPr>
      </p:pic>
      <p:pic>
        <p:nvPicPr>
          <p:cNvPr id="10" name="Imagen 9">
            <a:extLst>
              <a:ext uri="{FF2B5EF4-FFF2-40B4-BE49-F238E27FC236}">
                <a16:creationId xmlns:a16="http://schemas.microsoft.com/office/drawing/2014/main" id="{92321981-C014-2E8B-9FA0-2B4E61A5669C}"/>
              </a:ext>
            </a:extLst>
          </p:cNvPr>
          <p:cNvPicPr>
            <a:picLocks noChangeAspect="1"/>
          </p:cNvPicPr>
          <p:nvPr/>
        </p:nvPicPr>
        <p:blipFill>
          <a:blip r:embed="rId4"/>
          <a:stretch>
            <a:fillRect/>
          </a:stretch>
        </p:blipFill>
        <p:spPr>
          <a:xfrm>
            <a:off x="2148845" y="4055364"/>
            <a:ext cx="7891258" cy="1386534"/>
          </a:xfrm>
          <a:prstGeom prst="rect">
            <a:avLst/>
          </a:prstGeom>
        </p:spPr>
      </p:pic>
    </p:spTree>
    <p:extLst>
      <p:ext uri="{BB962C8B-B14F-4D97-AF65-F5344CB8AC3E}">
        <p14:creationId xmlns:p14="http://schemas.microsoft.com/office/powerpoint/2010/main" val="2982649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7116547-9C98-D341-028E-70B280F97EC1}"/>
              </a:ext>
            </a:extLst>
          </p:cNvPr>
          <p:cNvSpPr>
            <a:spLocks noGrp="1"/>
          </p:cNvSpPr>
          <p:nvPr>
            <p:ph type="title"/>
          </p:nvPr>
        </p:nvSpPr>
        <p:spPr>
          <a:xfrm>
            <a:off x="572493" y="238539"/>
            <a:ext cx="11018520" cy="1434415"/>
          </a:xfrm>
        </p:spPr>
        <p:txBody>
          <a:bodyPr anchor="b">
            <a:normAutofit/>
          </a:bodyPr>
          <a:lstStyle/>
          <a:p>
            <a:r>
              <a:rPr lang="es-ES" sz="5000"/>
              <a:t>ANALISIS DE ESTADISTICA INFERENCIAL</a:t>
            </a:r>
            <a:endParaRPr lang="es-AR" sz="5000"/>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38E571B7-CB8B-5F2E-5B69-9FD7CE25066A}"/>
              </a:ext>
            </a:extLst>
          </p:cNvPr>
          <p:cNvSpPr>
            <a:spLocks noGrp="1"/>
          </p:cNvSpPr>
          <p:nvPr>
            <p:ph idx="1"/>
          </p:nvPr>
        </p:nvSpPr>
        <p:spPr>
          <a:xfrm>
            <a:off x="572493" y="2071316"/>
            <a:ext cx="6713552" cy="4119172"/>
          </a:xfrm>
        </p:spPr>
        <p:txBody>
          <a:bodyPr anchor="t">
            <a:normAutofit/>
          </a:bodyPr>
          <a:lstStyle/>
          <a:p>
            <a:pPr marL="0" indent="0">
              <a:buNone/>
            </a:pPr>
            <a:r>
              <a:rPr lang="en-US" sz="2200" dirty="0" err="1"/>
              <a:t>Tras</a:t>
            </a:r>
            <a:r>
              <a:rPr lang="en-US" sz="2200" dirty="0"/>
              <a:t> la </a:t>
            </a:r>
            <a:r>
              <a:rPr lang="en-US" sz="2200" dirty="0" err="1"/>
              <a:t>comparacion</a:t>
            </a:r>
            <a:r>
              <a:rPr lang="en-US" sz="2200" dirty="0"/>
              <a:t> de </a:t>
            </a:r>
            <a:r>
              <a:rPr lang="en-US" sz="2200" dirty="0" err="1"/>
              <a:t>modelos</a:t>
            </a:r>
            <a:r>
              <a:rPr lang="en-US" sz="2200" dirty="0"/>
              <a:t>: </a:t>
            </a:r>
            <a:r>
              <a:rPr lang="en-US" sz="2200" dirty="0" err="1"/>
              <a:t>ingreso</a:t>
            </a:r>
            <a:r>
              <a:rPr lang="en-US" sz="2200" dirty="0"/>
              <a:t> vs </a:t>
            </a:r>
            <a:r>
              <a:rPr lang="en-US" sz="2200" dirty="0" err="1"/>
              <a:t>productividad</a:t>
            </a:r>
            <a:r>
              <a:rPr lang="en-US" sz="2200" dirty="0"/>
              <a:t> </a:t>
            </a:r>
            <a:r>
              <a:rPr lang="en-US" sz="2200" dirty="0" err="1"/>
              <a:t>agricola</a:t>
            </a:r>
            <a:r>
              <a:rPr lang="en-US" sz="2200" dirty="0"/>
              <a:t> </a:t>
            </a:r>
            <a:r>
              <a:rPr lang="en-US" sz="2200" dirty="0" err="1"/>
              <a:t>como</a:t>
            </a:r>
            <a:r>
              <a:rPr lang="en-US" sz="2200" dirty="0"/>
              <a:t> </a:t>
            </a:r>
            <a:r>
              <a:rPr lang="en-US" sz="2200" dirty="0" err="1"/>
              <a:t>predictores</a:t>
            </a:r>
            <a:r>
              <a:rPr lang="en-US" sz="2200" dirty="0"/>
              <a:t> de </a:t>
            </a:r>
            <a:r>
              <a:rPr lang="en-US" sz="2200" dirty="0" err="1"/>
              <a:t>seguridad</a:t>
            </a:r>
            <a:r>
              <a:rPr lang="en-US" sz="2200" dirty="0"/>
              <a:t> alimentaria </a:t>
            </a:r>
            <a:r>
              <a:rPr lang="en-US" sz="2200" dirty="0" err="1"/>
              <a:t>vemos</a:t>
            </a:r>
            <a:r>
              <a:rPr lang="en-US" sz="2200" dirty="0"/>
              <a:t> </a:t>
            </a:r>
            <a:r>
              <a:rPr lang="en-US" sz="2200" dirty="0" err="1"/>
              <a:t>que</a:t>
            </a:r>
            <a:r>
              <a:rPr lang="en-US" sz="2200" dirty="0"/>
              <a:t>:</a:t>
            </a:r>
          </a:p>
          <a:p>
            <a:pPr marL="0" indent="0">
              <a:buNone/>
            </a:pPr>
            <a:r>
              <a:rPr lang="en-US" sz="2200" dirty="0"/>
              <a:t>El </a:t>
            </a:r>
            <a:r>
              <a:rPr lang="en-US" sz="2200" dirty="0" err="1"/>
              <a:t>ingreso</a:t>
            </a:r>
            <a:r>
              <a:rPr lang="en-US" sz="2200" dirty="0"/>
              <a:t> per capita </a:t>
            </a:r>
            <a:r>
              <a:rPr lang="en-US" sz="2200" dirty="0" err="1"/>
              <a:t>explica</a:t>
            </a:r>
            <a:r>
              <a:rPr lang="en-US" sz="2200" dirty="0"/>
              <a:t> </a:t>
            </a:r>
            <a:r>
              <a:rPr lang="en-US" sz="2200" dirty="0" err="1"/>
              <a:t>una</a:t>
            </a:r>
            <a:r>
              <a:rPr lang="en-US" sz="2200" dirty="0"/>
              <a:t> </a:t>
            </a:r>
            <a:r>
              <a:rPr lang="en-US" sz="2200" dirty="0" err="1"/>
              <a:t>proporcion</a:t>
            </a:r>
            <a:r>
              <a:rPr lang="en-US" sz="2200" dirty="0"/>
              <a:t> </a:t>
            </a:r>
            <a:r>
              <a:rPr lang="en-US" sz="2200" dirty="0" err="1"/>
              <a:t>ligeramente</a:t>
            </a:r>
            <a:r>
              <a:rPr lang="en-US" sz="2200" dirty="0"/>
              <a:t> mayor de la </a:t>
            </a:r>
            <a:r>
              <a:rPr lang="en-US" sz="2200" dirty="0" err="1"/>
              <a:t>variacion</a:t>
            </a:r>
            <a:r>
              <a:rPr lang="en-US" sz="2200" dirty="0"/>
              <a:t> </a:t>
            </a:r>
            <a:r>
              <a:rPr lang="en-US" sz="2200" dirty="0" err="1"/>
              <a:t>en</a:t>
            </a:r>
            <a:r>
              <a:rPr lang="en-US" sz="2200" dirty="0"/>
              <a:t> </a:t>
            </a:r>
            <a:r>
              <a:rPr lang="en-US" sz="2200" dirty="0" err="1"/>
              <a:t>seguridad</a:t>
            </a:r>
            <a:r>
              <a:rPr lang="en-US" sz="2200" dirty="0"/>
              <a:t> alimentaria ( R2 = 0,059)</a:t>
            </a:r>
          </a:p>
          <a:p>
            <a:pPr marL="0" indent="0">
              <a:buNone/>
            </a:pPr>
            <a:r>
              <a:rPr lang="en-US" sz="2200" dirty="0"/>
              <a:t>El </a:t>
            </a:r>
            <a:r>
              <a:rPr lang="en-US" sz="2200" dirty="0" err="1"/>
              <a:t>rendimiento</a:t>
            </a:r>
            <a:r>
              <a:rPr lang="en-US" sz="2200" dirty="0"/>
              <a:t> </a:t>
            </a:r>
            <a:r>
              <a:rPr lang="en-US" sz="2200" dirty="0" err="1"/>
              <a:t>agricola</a:t>
            </a:r>
            <a:r>
              <a:rPr lang="en-US" sz="2200" dirty="0"/>
              <a:t> </a:t>
            </a:r>
            <a:r>
              <a:rPr lang="en-US" sz="2200" dirty="0" err="1"/>
              <a:t>presenta</a:t>
            </a:r>
            <a:r>
              <a:rPr lang="en-US" sz="2200" dirty="0"/>
              <a:t> </a:t>
            </a:r>
            <a:r>
              <a:rPr lang="en-US" sz="2200" dirty="0" err="1"/>
              <a:t>una</a:t>
            </a:r>
            <a:r>
              <a:rPr lang="en-US" sz="2200" dirty="0"/>
              <a:t> </a:t>
            </a:r>
            <a:r>
              <a:rPr lang="en-US" sz="2200" dirty="0" err="1"/>
              <a:t>relacion</a:t>
            </a:r>
            <a:r>
              <a:rPr lang="en-US" sz="2200" dirty="0"/>
              <a:t> </a:t>
            </a:r>
            <a:r>
              <a:rPr lang="en-US" sz="2200" dirty="0" err="1"/>
              <a:t>positiva</a:t>
            </a:r>
            <a:r>
              <a:rPr lang="en-US" sz="2200" dirty="0"/>
              <a:t>, con </a:t>
            </a:r>
            <a:r>
              <a:rPr lang="en-US" sz="2200" dirty="0" err="1"/>
              <a:t>menor</a:t>
            </a:r>
            <a:r>
              <a:rPr lang="en-US" sz="2200" dirty="0"/>
              <a:t> </a:t>
            </a:r>
            <a:r>
              <a:rPr lang="en-US" sz="2200" dirty="0" err="1"/>
              <a:t>capacidad</a:t>
            </a:r>
            <a:r>
              <a:rPr lang="en-US" sz="2200" dirty="0"/>
              <a:t> </a:t>
            </a:r>
            <a:r>
              <a:rPr lang="en-US" sz="2200" dirty="0" err="1"/>
              <a:t>explicativa</a:t>
            </a:r>
            <a:r>
              <a:rPr lang="en-US" sz="2200" dirty="0"/>
              <a:t> (R2= 0.055)</a:t>
            </a:r>
          </a:p>
          <a:p>
            <a:pPr marL="0" indent="0">
              <a:buNone/>
            </a:pPr>
            <a:r>
              <a:rPr lang="en-US" sz="2200" dirty="0"/>
              <a:t>El </a:t>
            </a:r>
            <a:r>
              <a:rPr lang="en-US" sz="2200" dirty="0" err="1"/>
              <a:t>modelo</a:t>
            </a:r>
            <a:r>
              <a:rPr lang="en-US" sz="2200" dirty="0"/>
              <a:t> </a:t>
            </a:r>
            <a:r>
              <a:rPr lang="en-US" sz="2200" dirty="0" err="1"/>
              <a:t>combinado</a:t>
            </a:r>
            <a:r>
              <a:rPr lang="en-US" sz="2200" dirty="0"/>
              <a:t> dado </a:t>
            </a:r>
            <a:r>
              <a:rPr lang="en-US" sz="2200" dirty="0" err="1"/>
              <a:t>que</a:t>
            </a:r>
            <a:r>
              <a:rPr lang="en-US" sz="2200" dirty="0"/>
              <a:t> ambas variables </a:t>
            </a:r>
            <a:r>
              <a:rPr lang="en-US" sz="2200" dirty="0" err="1"/>
              <a:t>capturan</a:t>
            </a:r>
            <a:r>
              <a:rPr lang="en-US" sz="2200" dirty="0"/>
              <a:t> </a:t>
            </a:r>
            <a:r>
              <a:rPr lang="en-US" sz="2200" dirty="0" err="1"/>
              <a:t>complementarias</a:t>
            </a:r>
            <a:r>
              <a:rPr lang="en-US" sz="2200" dirty="0"/>
              <a:t> </a:t>
            </a:r>
            <a:r>
              <a:rPr lang="en-US" sz="2200" dirty="0" err="1"/>
              <a:t>mejora</a:t>
            </a:r>
            <a:r>
              <a:rPr lang="en-US" sz="2200" dirty="0"/>
              <a:t> </a:t>
            </a:r>
            <a:r>
              <a:rPr lang="en-US" sz="2200" dirty="0" err="1"/>
              <a:t>el</a:t>
            </a:r>
            <a:r>
              <a:rPr lang="en-US" sz="2200" dirty="0"/>
              <a:t> </a:t>
            </a:r>
            <a:r>
              <a:rPr lang="en-US" sz="2200" dirty="0" err="1"/>
              <a:t>ajuste</a:t>
            </a:r>
            <a:r>
              <a:rPr lang="en-US" sz="2200" dirty="0"/>
              <a:t>. (R2= 0.082)</a:t>
            </a:r>
          </a:p>
        </p:txBody>
      </p:sp>
      <p:pic>
        <p:nvPicPr>
          <p:cNvPr id="5" name="Marcador de contenido 4" descr="Tabla&#10;&#10;El contenido generado por IA puede ser incorrecto.">
            <a:extLst>
              <a:ext uri="{FF2B5EF4-FFF2-40B4-BE49-F238E27FC236}">
                <a16:creationId xmlns:a16="http://schemas.microsoft.com/office/drawing/2014/main" id="{BF7F52DC-8934-BC73-C69E-123F611B173D}"/>
              </a:ext>
            </a:extLst>
          </p:cNvPr>
          <p:cNvPicPr>
            <a:picLocks noChangeAspect="1"/>
          </p:cNvPicPr>
          <p:nvPr/>
        </p:nvPicPr>
        <p:blipFill>
          <a:blip r:embed="rId2">
            <a:extLst>
              <a:ext uri="{28A0092B-C50C-407E-A947-70E740481C1C}">
                <a14:useLocalDpi xmlns:a14="http://schemas.microsoft.com/office/drawing/2010/main" val="0"/>
              </a:ext>
            </a:extLst>
          </a:blip>
          <a:srcRect r="13177" b="3"/>
          <a:stretch>
            <a:fillRect/>
          </a:stretch>
        </p:blipFill>
        <p:spPr>
          <a:xfrm>
            <a:off x="7604229" y="2071316"/>
            <a:ext cx="3941064" cy="4096512"/>
          </a:xfrm>
          <a:prstGeom prst="rect">
            <a:avLst/>
          </a:prstGeom>
        </p:spPr>
      </p:pic>
    </p:spTree>
    <p:extLst>
      <p:ext uri="{BB962C8B-B14F-4D97-AF65-F5344CB8AC3E}">
        <p14:creationId xmlns:p14="http://schemas.microsoft.com/office/powerpoint/2010/main" val="1985866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E6D5D67-56B3-B36C-50D5-84E43A206A5D}"/>
              </a:ext>
            </a:extLst>
          </p:cNvPr>
          <p:cNvSpPr>
            <a:spLocks noGrp="1"/>
          </p:cNvSpPr>
          <p:nvPr>
            <p:ph type="title"/>
          </p:nvPr>
        </p:nvSpPr>
        <p:spPr>
          <a:xfrm>
            <a:off x="630936" y="639520"/>
            <a:ext cx="3429000" cy="1719072"/>
          </a:xfrm>
        </p:spPr>
        <p:txBody>
          <a:bodyPr anchor="b">
            <a:normAutofit/>
          </a:bodyPr>
          <a:lstStyle/>
          <a:p>
            <a:r>
              <a:rPr lang="es-ES" sz="2200"/>
              <a:t>RELACION ENTRE RENDIMIENTO AGRICOLA Y SEGURIDAD ALIMENTARIA</a:t>
            </a:r>
            <a:endParaRPr lang="es-AR" sz="2200"/>
          </a:p>
        </p:txBody>
      </p:sp>
      <p:sp>
        <p:nvSpPr>
          <p:cNvPr id="24"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A627ADE9-D200-7AF3-14CD-78BD49FE5CEB}"/>
              </a:ext>
            </a:extLst>
          </p:cNvPr>
          <p:cNvSpPr>
            <a:spLocks noGrp="1"/>
          </p:cNvSpPr>
          <p:nvPr>
            <p:ph idx="1"/>
          </p:nvPr>
        </p:nvSpPr>
        <p:spPr>
          <a:xfrm>
            <a:off x="630936" y="2807208"/>
            <a:ext cx="3429000" cy="3410712"/>
          </a:xfrm>
        </p:spPr>
        <p:txBody>
          <a:bodyPr anchor="t">
            <a:normAutofit/>
          </a:bodyPr>
          <a:lstStyle/>
          <a:p>
            <a:pPr marL="0" indent="0">
              <a:buNone/>
            </a:pPr>
            <a:r>
              <a:rPr lang="en-US" sz="1500"/>
              <a:t>Se observa una relacion positiva: paises con mayor rendimiento agricola tienden a tener mas calorias disponibles por habitante.</a:t>
            </a:r>
          </a:p>
          <a:p>
            <a:pPr marL="0" indent="0">
              <a:buNone/>
            </a:pPr>
            <a:r>
              <a:rPr lang="en-US" sz="1500"/>
              <a:t>La pendiente positiva indica que la productividad contribuye a mejorar la disponibilidad de alimentos.</a:t>
            </a:r>
          </a:p>
          <a:p>
            <a:pPr marL="0" indent="0">
              <a:buNone/>
            </a:pPr>
            <a:r>
              <a:rPr lang="en-US" sz="1500"/>
              <a:t>Sin embargo la concentracion de puntos muestra que la mayor parte de los paises se mueven dentro de un rango acotado de rendimientos, lo cual refleja que la produccion esta condicionada por factores climaticos, tecnologicos y geograficos.</a:t>
            </a:r>
          </a:p>
        </p:txBody>
      </p:sp>
      <p:pic>
        <p:nvPicPr>
          <p:cNvPr id="5" name="Marcador de contenido 4" descr="Gráfico, Gráfico de dispersión&#10;&#10;El contenido generado por IA puede ser incorrecto.">
            <a:extLst>
              <a:ext uri="{FF2B5EF4-FFF2-40B4-BE49-F238E27FC236}">
                <a16:creationId xmlns:a16="http://schemas.microsoft.com/office/drawing/2014/main" id="{0F983E81-733D-5336-E07D-48A4A9055E2C}"/>
              </a:ext>
            </a:extLst>
          </p:cNvPr>
          <p:cNvPicPr>
            <a:picLocks noChangeAspect="1"/>
          </p:cNvPicPr>
          <p:nvPr/>
        </p:nvPicPr>
        <p:blipFill>
          <a:blip r:embed="rId2">
            <a:extLst>
              <a:ext uri="{28A0092B-C50C-407E-A947-70E740481C1C}">
                <a14:useLocalDpi xmlns:a14="http://schemas.microsoft.com/office/drawing/2010/main" val="0"/>
              </a:ext>
            </a:extLst>
          </a:blip>
          <a:srcRect l="-290" r="-587" b="-551"/>
          <a:stretch>
            <a:fillRect/>
          </a:stretch>
        </p:blipFill>
        <p:spPr>
          <a:xfrm>
            <a:off x="4654296" y="1132330"/>
            <a:ext cx="6903720" cy="4593340"/>
          </a:xfrm>
          <a:prstGeom prst="rect">
            <a:avLst/>
          </a:prstGeom>
        </p:spPr>
      </p:pic>
    </p:spTree>
    <p:extLst>
      <p:ext uri="{BB962C8B-B14F-4D97-AF65-F5344CB8AC3E}">
        <p14:creationId xmlns:p14="http://schemas.microsoft.com/office/powerpoint/2010/main" val="738875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C38D7FF-3207-9A55-07ED-0BE15E3B2FEF}"/>
              </a:ext>
            </a:extLst>
          </p:cNvPr>
          <p:cNvSpPr>
            <a:spLocks noGrp="1"/>
          </p:cNvSpPr>
          <p:nvPr>
            <p:ph type="title"/>
          </p:nvPr>
        </p:nvSpPr>
        <p:spPr>
          <a:xfrm>
            <a:off x="630936" y="639520"/>
            <a:ext cx="3429000" cy="1719072"/>
          </a:xfrm>
        </p:spPr>
        <p:txBody>
          <a:bodyPr anchor="b">
            <a:normAutofit/>
          </a:bodyPr>
          <a:lstStyle/>
          <a:p>
            <a:r>
              <a:rPr lang="es-ES" sz="2600"/>
              <a:t>RELACION ENTRE INGRESO PER CAPITA Y SEGURIDAD ALIMENTARIA</a:t>
            </a:r>
            <a:endParaRPr lang="es-AR" sz="2600"/>
          </a:p>
        </p:txBody>
      </p:sp>
      <p:sp>
        <p:nvSpPr>
          <p:cNvPr id="2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6861F7FB-700A-B7FA-EA21-2AC2E6B852A6}"/>
              </a:ext>
            </a:extLst>
          </p:cNvPr>
          <p:cNvSpPr>
            <a:spLocks noGrp="1"/>
          </p:cNvSpPr>
          <p:nvPr>
            <p:ph idx="1"/>
          </p:nvPr>
        </p:nvSpPr>
        <p:spPr>
          <a:xfrm>
            <a:off x="630936" y="2807208"/>
            <a:ext cx="3429000" cy="3410712"/>
          </a:xfrm>
        </p:spPr>
        <p:txBody>
          <a:bodyPr anchor="t">
            <a:normAutofit/>
          </a:bodyPr>
          <a:lstStyle/>
          <a:p>
            <a:pPr marL="0" indent="0">
              <a:buNone/>
            </a:pPr>
            <a:r>
              <a:rPr lang="en-US" sz="1700"/>
              <a:t>A medida que aumenta el ingreso per capita de un pais, aumenta la cantidad de calorias disponibles por habitante.</a:t>
            </a:r>
          </a:p>
          <a:p>
            <a:pPr marL="0" indent="0">
              <a:buNone/>
            </a:pPr>
            <a:r>
              <a:rPr lang="en-US" sz="1700"/>
              <a:t>La tendencia es creciente.</a:t>
            </a:r>
          </a:p>
          <a:p>
            <a:pPr marL="0" indent="0">
              <a:buNone/>
            </a:pPr>
            <a:r>
              <a:rPr lang="en-US" sz="1700"/>
              <a:t>Los paises con mayor nivel de ingresos cuentan con mas capacidad economica para  garantizar oferta alimentaria ya sea mediante produccion interna, importaciones o construccion de sistemas de abastecimiento mas estables.</a:t>
            </a:r>
          </a:p>
        </p:txBody>
      </p:sp>
      <p:pic>
        <p:nvPicPr>
          <p:cNvPr id="5" name="Marcador de contenido 4" descr="Gráfico, Gráfico de dispersión&#10;&#10;El contenido generado por IA puede ser incorrecto.">
            <a:extLst>
              <a:ext uri="{FF2B5EF4-FFF2-40B4-BE49-F238E27FC236}">
                <a16:creationId xmlns:a16="http://schemas.microsoft.com/office/drawing/2014/main" id="{4FAEAC2A-FBA3-8F95-7777-E6AB5EAF4002}"/>
              </a:ext>
            </a:extLst>
          </p:cNvPr>
          <p:cNvPicPr>
            <a:picLocks noChangeAspect="1"/>
          </p:cNvPicPr>
          <p:nvPr/>
        </p:nvPicPr>
        <p:blipFill>
          <a:blip r:embed="rId2">
            <a:extLst>
              <a:ext uri="{28A0092B-C50C-407E-A947-70E740481C1C}">
                <a14:useLocalDpi xmlns:a14="http://schemas.microsoft.com/office/drawing/2010/main" val="0"/>
              </a:ext>
            </a:extLst>
          </a:blip>
          <a:srcRect l="50" r="-305" b="-551"/>
          <a:stretch>
            <a:fillRect/>
          </a:stretch>
        </p:blipFill>
        <p:spPr>
          <a:xfrm>
            <a:off x="4654296" y="1118081"/>
            <a:ext cx="6903720" cy="4621837"/>
          </a:xfrm>
          <a:prstGeom prst="rect">
            <a:avLst/>
          </a:prstGeom>
        </p:spPr>
      </p:pic>
    </p:spTree>
    <p:extLst>
      <p:ext uri="{BB962C8B-B14F-4D97-AF65-F5344CB8AC3E}">
        <p14:creationId xmlns:p14="http://schemas.microsoft.com/office/powerpoint/2010/main" val="1399464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5C0017-99DE-FB55-896A-97E4568283C1}"/>
              </a:ext>
            </a:extLst>
          </p:cNvPr>
          <p:cNvSpPr>
            <a:spLocks noGrp="1"/>
          </p:cNvSpPr>
          <p:nvPr>
            <p:ph type="title"/>
          </p:nvPr>
        </p:nvSpPr>
        <p:spPr>
          <a:xfrm>
            <a:off x="686834" y="1153572"/>
            <a:ext cx="3200400" cy="4461163"/>
          </a:xfrm>
        </p:spPr>
        <p:txBody>
          <a:bodyPr>
            <a:normAutofit/>
          </a:bodyPr>
          <a:lstStyle/>
          <a:p>
            <a:r>
              <a:rPr lang="es-ES" sz="3100">
                <a:solidFill>
                  <a:srgbClr val="FFFFFF"/>
                </a:solidFill>
              </a:rPr>
              <a:t>CONCLUSIONES</a:t>
            </a:r>
            <a:endParaRPr lang="es-AR" sz="3100">
              <a:solidFill>
                <a:srgbClr val="FFFFFF"/>
              </a:solidFill>
            </a:endParaRPr>
          </a:p>
        </p:txBody>
      </p:sp>
      <p:sp>
        <p:nvSpPr>
          <p:cNvPr id="19" name="Arc 1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80BA9562-6FEC-9B82-5B8C-DCF394C709FB}"/>
              </a:ext>
            </a:extLst>
          </p:cNvPr>
          <p:cNvSpPr>
            <a:spLocks noGrp="1"/>
          </p:cNvSpPr>
          <p:nvPr>
            <p:ph idx="1"/>
          </p:nvPr>
        </p:nvSpPr>
        <p:spPr>
          <a:xfrm>
            <a:off x="4447308" y="591344"/>
            <a:ext cx="6906491" cy="5585619"/>
          </a:xfrm>
        </p:spPr>
        <p:txBody>
          <a:bodyPr anchor="ctr">
            <a:normAutofit/>
          </a:bodyPr>
          <a:lstStyle/>
          <a:p>
            <a:r>
              <a:rPr lang="es-ES" sz="2400"/>
              <a:t>Podemos concluir con los datos trabajados que el PBI per </a:t>
            </a:r>
            <a:r>
              <a:rPr lang="es-ES" sz="2400" err="1"/>
              <a:t>capita</a:t>
            </a:r>
            <a:r>
              <a:rPr lang="es-ES" sz="2400"/>
              <a:t> es mejor predictor que la productividad agrícola.</a:t>
            </a:r>
          </a:p>
          <a:p>
            <a:r>
              <a:rPr lang="es-ES" sz="2400"/>
              <a:t>Los gráficos log-log confirman la tendencia explicativa: la relación entre ingreso y calorías disponibles es mas estable y consistente que la observada para el rendimiento agrícola.</a:t>
            </a:r>
          </a:p>
          <a:p>
            <a:r>
              <a:rPr lang="es-ES" sz="2400" dirty="0"/>
              <a:t>Países ricos pueden asegurar alimentos importándolos incluso si tienen baja productividad. </a:t>
            </a:r>
          </a:p>
          <a:p>
            <a:r>
              <a:rPr lang="es-ES" sz="2400" dirty="0"/>
              <a:t>Países pobres pueden sufrir hambre incluso con buena tierra (ej. África Subsahariana).</a:t>
            </a:r>
          </a:p>
          <a:p>
            <a:r>
              <a:rPr lang="es-ES" sz="2400" dirty="0"/>
              <a:t>La seguridad alimentaria moderna es más un problema de acceso económico que de producción local.</a:t>
            </a:r>
            <a:endParaRPr lang="es-AR" sz="2400" dirty="0"/>
          </a:p>
          <a:p>
            <a:endParaRPr lang="es-ES" sz="2400"/>
          </a:p>
        </p:txBody>
      </p:sp>
    </p:spTree>
    <p:extLst>
      <p:ext uri="{BB962C8B-B14F-4D97-AF65-F5344CB8AC3E}">
        <p14:creationId xmlns:p14="http://schemas.microsoft.com/office/powerpoint/2010/main" val="260420933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3abf3db-afde-46d4-a16a-8000a5e2ef5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054EEF5A0FFF6144BE851BD7763DA575" ma:contentTypeVersion="14" ma:contentTypeDescription="Crear nuevo documento." ma:contentTypeScope="" ma:versionID="84c6c68a0ea57406d7fbd5db2ccf883c">
  <xsd:schema xmlns:xsd="http://www.w3.org/2001/XMLSchema" xmlns:xs="http://www.w3.org/2001/XMLSchema" xmlns:p="http://schemas.microsoft.com/office/2006/metadata/properties" xmlns:ns3="73abf3db-afde-46d4-a16a-8000a5e2ef57" targetNamespace="http://schemas.microsoft.com/office/2006/metadata/properties" ma:root="true" ma:fieldsID="1951a92b7e44962af05ef9e3aa8968df" ns3:_="">
    <xsd:import namespace="73abf3db-afde-46d4-a16a-8000a5e2ef5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ObjectDetectorVersions" minOccurs="0"/>
                <xsd:element ref="ns3:MediaServiceDateTaken" minOccurs="0"/>
                <xsd:element ref="ns3:MediaServiceSearchProperties" minOccurs="0"/>
                <xsd:element ref="ns3:MediaServiceGenerationTime" minOccurs="0"/>
                <xsd:element ref="ns3:MediaServiceEventHashCode" minOccurs="0"/>
                <xsd:element ref="ns3:MediaLengthInSeconds" minOccurs="0"/>
                <xsd:element ref="ns3:_activity" minOccurs="0"/>
                <xsd:element ref="ns3:MediaServiceSystemTags"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abf3db-afde-46d4-a16a-8000a5e2ef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8445AF0-B152-4985-A2F8-3BCD2129ADA8}">
  <ds:schemaRefs>
    <ds:schemaRef ds:uri="http://purl.org/dc/elements/1.1/"/>
    <ds:schemaRef ds:uri="73abf3db-afde-46d4-a16a-8000a5e2ef57"/>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www.w3.org/XML/1998/namespace"/>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26D7A745-A16B-4E78-9B67-1F91FA4AD2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abf3db-afde-46d4-a16a-8000a5e2ef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A3B5DE-C629-4E1C-BDB4-6E8D7A8F1D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976</TotalTime>
  <Words>1061</Words>
  <Application>Microsoft Office PowerPoint</Application>
  <PresentationFormat>Widescreen</PresentationFormat>
  <Paragraphs>77</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Tema de Office</vt:lpstr>
      <vt:lpstr>AGRICULTURA Y SEGURIDAD ALIMENTARIA</vt:lpstr>
      <vt:lpstr>¿Qué es la seguridad alimentaria?</vt:lpstr>
      <vt:lpstr>Cuatro dimensiones primordiales:</vt:lpstr>
      <vt:lpstr>El nivel de ingreso per cápita es un mejor predictor de la seguridad alimentaria de un país que la productividad agrícola.</vt:lpstr>
      <vt:lpstr>ANALISIS EXPLORATORIO DE DATOS (EDA) </vt:lpstr>
      <vt:lpstr>PowerPoint Presentation</vt:lpstr>
      <vt:lpstr>PowerPoint Presentation</vt:lpstr>
      <vt:lpstr>PowerPoint Presentation</vt:lpstr>
      <vt:lpstr>PowerPoint Presentation</vt:lpstr>
      <vt:lpstr>PowerPoint Presentation</vt:lpstr>
      <vt:lpstr>DATOS FALTANTES</vt:lpstr>
      <vt:lpstr>OUTLIERS</vt:lpstr>
      <vt:lpstr>POSIBLES EFECTOS</vt:lpstr>
      <vt:lpstr>EVALUACION IMPACTO DE LA LIMPIEZA</vt:lpstr>
      <vt:lpstr>ANALISIS DE ESTADISTICA INFERENCIAL</vt:lpstr>
      <vt:lpstr>RELACION ENTRE RENDIMIENTO AGRICOLA Y SEGURIDAD ALIMENTARIA</vt:lpstr>
      <vt:lpstr>RELACION ENTRE INGRESO PER CAPITA Y SEGURIDAD ALIMENTARIA</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Irina Magali Villarroel</dc:creator>
  <cp:lastModifiedBy>Joao Paulo Pereira Dias Bento Ferreira</cp:lastModifiedBy>
  <cp:revision>9</cp:revision>
  <dcterms:created xsi:type="dcterms:W3CDTF">2025-11-30T20:54:21Z</dcterms:created>
  <dcterms:modified xsi:type="dcterms:W3CDTF">2025-12-05T21:45:07Z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0x010100054EEF5A0FFF6144BE851BD7763DA575</vt:lpwstr>
  </property>
</Properties>
</file>